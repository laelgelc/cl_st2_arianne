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2"/>
  </p:notesMasterIdLst>
  <p:sldIdLst>
    <p:sldId id="280" r:id="rId2"/>
    <p:sldId id="270" r:id="rId3"/>
    <p:sldId id="288" r:id="rId4"/>
    <p:sldId id="273" r:id="rId5"/>
    <p:sldId id="272" r:id="rId6"/>
    <p:sldId id="293" r:id="rId7"/>
    <p:sldId id="286" r:id="rId8"/>
    <p:sldId id="277" r:id="rId9"/>
    <p:sldId id="287" r:id="rId10"/>
    <p:sldId id="283" r:id="rId11"/>
    <p:sldId id="284" r:id="rId12"/>
    <p:sldId id="290" r:id="rId13"/>
    <p:sldId id="292" r:id="rId14"/>
    <p:sldId id="289" r:id="rId15"/>
    <p:sldId id="282" r:id="rId16"/>
    <p:sldId id="285" r:id="rId17"/>
    <p:sldId id="291" r:id="rId18"/>
    <p:sldId id="295" r:id="rId19"/>
    <p:sldId id="296" r:id="rId20"/>
    <p:sldId id="29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A37"/>
    <a:srgbClr val="00542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1" d="100"/>
          <a:sy n="61" d="100"/>
        </p:scale>
        <p:origin x="1098"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DA1A8C-D107-4800-B777-95D9DD01F602}" type="datetimeFigureOut">
              <a:rPr lang="pt-BR" smtClean="0"/>
              <a:t>25/11/2025</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273BC2-AB22-4843-A16C-B5A785F43B78}" type="slidenum">
              <a:rPr lang="pt-BR" smtClean="0"/>
              <a:t>‹nº›</a:t>
            </a:fld>
            <a:endParaRPr lang="pt-BR"/>
          </a:p>
        </p:txBody>
      </p:sp>
    </p:spTree>
    <p:extLst>
      <p:ext uri="{BB962C8B-B14F-4D97-AF65-F5344CB8AC3E}">
        <p14:creationId xmlns:p14="http://schemas.microsoft.com/office/powerpoint/2010/main" val="28039826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B46EE-A5CB-ECEA-9277-A0E3CCA7046F}"/>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1CF4A2CE-A4BF-BCD3-90C3-6D0EFE034848}"/>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ED8CE068-6349-98EA-58E2-8FC8F6D5D3E4}"/>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F3E49D11-BDAB-6AEC-7F87-590C576F676A}"/>
              </a:ext>
            </a:extLst>
          </p:cNvPr>
          <p:cNvSpPr>
            <a:spLocks noGrp="1"/>
          </p:cNvSpPr>
          <p:nvPr>
            <p:ph type="sldNum" sz="quarter" idx="5"/>
          </p:nvPr>
        </p:nvSpPr>
        <p:spPr/>
        <p:txBody>
          <a:bodyPr/>
          <a:lstStyle/>
          <a:p>
            <a:fld id="{97273BC2-AB22-4843-A16C-B5A785F43B78}" type="slidenum">
              <a:rPr lang="pt-BR" smtClean="0"/>
              <a:t>1</a:t>
            </a:fld>
            <a:endParaRPr lang="pt-BR"/>
          </a:p>
        </p:txBody>
      </p:sp>
    </p:spTree>
    <p:extLst>
      <p:ext uri="{BB962C8B-B14F-4D97-AF65-F5344CB8AC3E}">
        <p14:creationId xmlns:p14="http://schemas.microsoft.com/office/powerpoint/2010/main" val="39350245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97273BC2-AB22-4843-A16C-B5A785F43B78}" type="slidenum">
              <a:rPr lang="pt-BR" smtClean="0"/>
              <a:t>2</a:t>
            </a:fld>
            <a:endParaRPr lang="pt-BR"/>
          </a:p>
        </p:txBody>
      </p:sp>
    </p:spTree>
    <p:extLst>
      <p:ext uri="{BB962C8B-B14F-4D97-AF65-F5344CB8AC3E}">
        <p14:creationId xmlns:p14="http://schemas.microsoft.com/office/powerpoint/2010/main" val="16665751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78B42-1E45-3356-D7A0-957C237166CC}"/>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1669FF33-A721-09A7-741A-FF5BE26980FF}"/>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8636E488-BF66-4C37-8C87-6C65FC5B9412}"/>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77F58E48-0E53-B8AC-944E-20A953903F7B}"/>
              </a:ext>
            </a:extLst>
          </p:cNvPr>
          <p:cNvSpPr>
            <a:spLocks noGrp="1"/>
          </p:cNvSpPr>
          <p:nvPr>
            <p:ph type="sldNum" sz="quarter" idx="5"/>
          </p:nvPr>
        </p:nvSpPr>
        <p:spPr/>
        <p:txBody>
          <a:bodyPr/>
          <a:lstStyle/>
          <a:p>
            <a:fld id="{97273BC2-AB22-4843-A16C-B5A785F43B78}" type="slidenum">
              <a:rPr lang="pt-BR" smtClean="0"/>
              <a:t>3</a:t>
            </a:fld>
            <a:endParaRPr lang="pt-BR"/>
          </a:p>
        </p:txBody>
      </p:sp>
    </p:spTree>
    <p:extLst>
      <p:ext uri="{BB962C8B-B14F-4D97-AF65-F5344CB8AC3E}">
        <p14:creationId xmlns:p14="http://schemas.microsoft.com/office/powerpoint/2010/main" val="15152030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7F269-6262-25EC-4E03-16614CC46751}"/>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ED724AB5-27C9-33ED-A2D6-3770BF39A583}"/>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64BB2FB2-8D22-C958-0696-74573897C9A1}"/>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AC422BFE-CA0E-EB14-147E-9ED9F1D04B49}"/>
              </a:ext>
            </a:extLst>
          </p:cNvPr>
          <p:cNvSpPr>
            <a:spLocks noGrp="1"/>
          </p:cNvSpPr>
          <p:nvPr>
            <p:ph type="sldNum" sz="quarter" idx="5"/>
          </p:nvPr>
        </p:nvSpPr>
        <p:spPr/>
        <p:txBody>
          <a:bodyPr/>
          <a:lstStyle/>
          <a:p>
            <a:fld id="{97273BC2-AB22-4843-A16C-B5A785F43B78}" type="slidenum">
              <a:rPr lang="pt-BR" smtClean="0"/>
              <a:t>7</a:t>
            </a:fld>
            <a:endParaRPr lang="pt-BR"/>
          </a:p>
        </p:txBody>
      </p:sp>
    </p:spTree>
    <p:extLst>
      <p:ext uri="{BB962C8B-B14F-4D97-AF65-F5344CB8AC3E}">
        <p14:creationId xmlns:p14="http://schemas.microsoft.com/office/powerpoint/2010/main" val="20769269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97273BC2-AB22-4843-A16C-B5A785F43B78}" type="slidenum">
              <a:rPr lang="pt-BR" smtClean="0"/>
              <a:t>14</a:t>
            </a:fld>
            <a:endParaRPr lang="pt-BR"/>
          </a:p>
        </p:txBody>
      </p:sp>
    </p:spTree>
    <p:extLst>
      <p:ext uri="{BB962C8B-B14F-4D97-AF65-F5344CB8AC3E}">
        <p14:creationId xmlns:p14="http://schemas.microsoft.com/office/powerpoint/2010/main" val="39544183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AF6B6-26E0-01B5-0102-8DD55A9EFA31}"/>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F56D0BD8-8057-248B-CA65-183947FA257B}"/>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CF217E64-8955-BCA6-F4AF-B88F99E6CA73}"/>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47F0F3EA-7034-574A-B372-95389EDF72FC}"/>
              </a:ext>
            </a:extLst>
          </p:cNvPr>
          <p:cNvSpPr>
            <a:spLocks noGrp="1"/>
          </p:cNvSpPr>
          <p:nvPr>
            <p:ph type="sldNum" sz="quarter" idx="5"/>
          </p:nvPr>
        </p:nvSpPr>
        <p:spPr/>
        <p:txBody>
          <a:bodyPr/>
          <a:lstStyle/>
          <a:p>
            <a:fld id="{97273BC2-AB22-4843-A16C-B5A785F43B78}" type="slidenum">
              <a:rPr lang="pt-BR" smtClean="0"/>
              <a:t>15</a:t>
            </a:fld>
            <a:endParaRPr lang="pt-BR"/>
          </a:p>
        </p:txBody>
      </p:sp>
    </p:spTree>
    <p:extLst>
      <p:ext uri="{BB962C8B-B14F-4D97-AF65-F5344CB8AC3E}">
        <p14:creationId xmlns:p14="http://schemas.microsoft.com/office/powerpoint/2010/main" val="11577391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DD1CF-BECF-79A7-3881-60928F16EA2C}"/>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D39B3369-8BA3-220F-7768-C1B3AD49830E}"/>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F727C124-23D7-FA7C-5944-9C5E97991F42}"/>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A34AD1D5-487E-2D81-1076-91EAB75F9494}"/>
              </a:ext>
            </a:extLst>
          </p:cNvPr>
          <p:cNvSpPr>
            <a:spLocks noGrp="1"/>
          </p:cNvSpPr>
          <p:nvPr>
            <p:ph type="sldNum" sz="quarter" idx="5"/>
          </p:nvPr>
        </p:nvSpPr>
        <p:spPr/>
        <p:txBody>
          <a:bodyPr/>
          <a:lstStyle/>
          <a:p>
            <a:fld id="{97273BC2-AB22-4843-A16C-B5A785F43B78}" type="slidenum">
              <a:rPr lang="pt-BR" smtClean="0"/>
              <a:t>16</a:t>
            </a:fld>
            <a:endParaRPr lang="pt-BR"/>
          </a:p>
        </p:txBody>
      </p:sp>
    </p:spTree>
    <p:extLst>
      <p:ext uri="{BB962C8B-B14F-4D97-AF65-F5344CB8AC3E}">
        <p14:creationId xmlns:p14="http://schemas.microsoft.com/office/powerpoint/2010/main" val="13022516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endParaRPr lang="en-US" dirty="0"/>
          </a:p>
        </p:txBody>
      </p:sp>
      <p:sp>
        <p:nvSpPr>
          <p:cNvPr id="4" name="Date Placeholder 3"/>
          <p:cNvSpPr>
            <a:spLocks noGrp="1"/>
          </p:cNvSpPr>
          <p:nvPr>
            <p:ph type="dt" sz="half" idx="10"/>
          </p:nvPr>
        </p:nvSpPr>
        <p:spPr/>
        <p:txBody>
          <a:bodyPr/>
          <a:lstStyle/>
          <a:p>
            <a:fld id="{BA987DFF-70F5-4A5D-BB98-BF95D74B6F45}" type="datetimeFigureOut">
              <a:rPr lang="pt-BR" smtClean="0"/>
              <a:t>25/11/2025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60EFE7A8-3F14-4850-AE5A-1BA9EA08DB86}" type="slidenum">
              <a:rPr lang="pt-BR" smtClean="0"/>
              <a:t>‹nº›</a:t>
            </a:fld>
            <a:endParaRPr lang="pt-BR"/>
          </a:p>
        </p:txBody>
      </p:sp>
    </p:spTree>
    <p:extLst>
      <p:ext uri="{BB962C8B-B14F-4D97-AF65-F5344CB8AC3E}">
        <p14:creationId xmlns:p14="http://schemas.microsoft.com/office/powerpoint/2010/main" val="6051004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BA987DFF-70F5-4A5D-BB98-BF95D74B6F45}" type="datetimeFigureOut">
              <a:rPr lang="pt-BR" smtClean="0"/>
              <a:t>25/11/2025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60EFE7A8-3F14-4850-AE5A-1BA9EA08DB86}" type="slidenum">
              <a:rPr lang="pt-BR" smtClean="0"/>
              <a:t>‹nº›</a:t>
            </a:fld>
            <a:endParaRPr lang="pt-BR"/>
          </a:p>
        </p:txBody>
      </p:sp>
    </p:spTree>
    <p:extLst>
      <p:ext uri="{BB962C8B-B14F-4D97-AF65-F5344CB8AC3E}">
        <p14:creationId xmlns:p14="http://schemas.microsoft.com/office/powerpoint/2010/main" val="25785293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BA987DFF-70F5-4A5D-BB98-BF95D74B6F45}" type="datetimeFigureOut">
              <a:rPr lang="pt-BR" smtClean="0"/>
              <a:t>25/11/2025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60EFE7A8-3F14-4850-AE5A-1BA9EA08DB86}" type="slidenum">
              <a:rPr lang="pt-BR" smtClean="0"/>
              <a:t>‹nº›</a:t>
            </a:fld>
            <a:endParaRPr lang="pt-BR"/>
          </a:p>
        </p:txBody>
      </p:sp>
    </p:spTree>
    <p:extLst>
      <p:ext uri="{BB962C8B-B14F-4D97-AF65-F5344CB8AC3E}">
        <p14:creationId xmlns:p14="http://schemas.microsoft.com/office/powerpoint/2010/main" val="2157933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BA987DFF-70F5-4A5D-BB98-BF95D74B6F45}" type="datetimeFigureOut">
              <a:rPr lang="pt-BR" smtClean="0"/>
              <a:t>25/11/2025</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60EFE7A8-3F14-4850-AE5A-1BA9EA08DB86}" type="slidenum">
              <a:rPr lang="pt-BR" smtClean="0"/>
              <a:t>‹nº›</a:t>
            </a:fld>
            <a:endParaRPr lang="pt-BR"/>
          </a:p>
        </p:txBody>
      </p:sp>
    </p:spTree>
    <p:extLst>
      <p:ext uri="{BB962C8B-B14F-4D97-AF65-F5344CB8AC3E}">
        <p14:creationId xmlns:p14="http://schemas.microsoft.com/office/powerpoint/2010/main" val="23574025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pt-BR"/>
              <a:t>Clique para editar o título Mestre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Content Placeholder 3"/>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Content Placeholder 5"/>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BA987DFF-70F5-4A5D-BB98-BF95D74B6F45}" type="datetimeFigureOut">
              <a:rPr lang="pt-BR" smtClean="0"/>
              <a:t>25/11/2025</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60EFE7A8-3F14-4850-AE5A-1BA9EA08DB86}" type="slidenum">
              <a:rPr lang="pt-BR" smtClean="0"/>
              <a:t>‹nº›</a:t>
            </a:fld>
            <a:endParaRPr lang="pt-BR"/>
          </a:p>
        </p:txBody>
      </p:sp>
    </p:spTree>
    <p:extLst>
      <p:ext uri="{BB962C8B-B14F-4D97-AF65-F5344CB8AC3E}">
        <p14:creationId xmlns:p14="http://schemas.microsoft.com/office/powerpoint/2010/main" val="22126711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BA987DFF-70F5-4A5D-BB98-BF95D74B6F45}" type="datetimeFigureOut">
              <a:rPr lang="pt-BR" smtClean="0"/>
              <a:t>25/11/2025</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60EFE7A8-3F14-4850-AE5A-1BA9EA08DB86}" type="slidenum">
              <a:rPr lang="pt-BR" smtClean="0"/>
              <a:t>‹nº›</a:t>
            </a:fld>
            <a:endParaRPr lang="pt-BR"/>
          </a:p>
        </p:txBody>
      </p:sp>
    </p:spTree>
    <p:extLst>
      <p:ext uri="{BB962C8B-B14F-4D97-AF65-F5344CB8AC3E}">
        <p14:creationId xmlns:p14="http://schemas.microsoft.com/office/powerpoint/2010/main" val="39547720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A987DFF-70F5-4A5D-BB98-BF95D74B6F45}" type="datetimeFigureOut">
              <a:rPr lang="pt-BR" smtClean="0"/>
              <a:t>25/11/2025</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60EFE7A8-3F14-4850-AE5A-1BA9EA08DB86}" type="slidenum">
              <a:rPr lang="pt-BR" smtClean="0"/>
              <a:t>‹nº›</a:t>
            </a:fld>
            <a:endParaRPr lang="pt-BR"/>
          </a:p>
        </p:txBody>
      </p:sp>
    </p:spTree>
    <p:extLst>
      <p:ext uri="{BB962C8B-B14F-4D97-AF65-F5344CB8AC3E}">
        <p14:creationId xmlns:p14="http://schemas.microsoft.com/office/powerpoint/2010/main" val="42032275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BA987DFF-70F5-4A5D-BB98-BF95D74B6F45}" type="datetimeFigureOut">
              <a:rPr lang="pt-BR" smtClean="0"/>
              <a:t>25/11/2025</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60EFE7A8-3F14-4850-AE5A-1BA9EA08DB86}" type="slidenum">
              <a:rPr lang="pt-BR" smtClean="0"/>
              <a:t>‹nº›</a:t>
            </a:fld>
            <a:endParaRPr lang="pt-BR"/>
          </a:p>
        </p:txBody>
      </p:sp>
    </p:spTree>
    <p:extLst>
      <p:ext uri="{BB962C8B-B14F-4D97-AF65-F5344CB8AC3E}">
        <p14:creationId xmlns:p14="http://schemas.microsoft.com/office/powerpoint/2010/main" val="3304465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t-BR"/>
              <a:t>Clique no ícone para adicionar uma imagem</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BA987DFF-70F5-4A5D-BB98-BF95D74B6F45}" type="datetimeFigureOut">
              <a:rPr lang="pt-BR" smtClean="0"/>
              <a:t>25/11/2025</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60EFE7A8-3F14-4850-AE5A-1BA9EA08DB86}" type="slidenum">
              <a:rPr lang="pt-BR" smtClean="0"/>
              <a:t>‹nº›</a:t>
            </a:fld>
            <a:endParaRPr lang="pt-BR"/>
          </a:p>
        </p:txBody>
      </p:sp>
    </p:spTree>
    <p:extLst>
      <p:ext uri="{BB962C8B-B14F-4D97-AF65-F5344CB8AC3E}">
        <p14:creationId xmlns:p14="http://schemas.microsoft.com/office/powerpoint/2010/main" val="1854504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BA987DFF-70F5-4A5D-BB98-BF95D74B6F45}" type="datetimeFigureOut">
              <a:rPr lang="pt-BR" smtClean="0"/>
              <a:t>25/11/2025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60EFE7A8-3F14-4850-AE5A-1BA9EA08DB86}" type="slidenum">
              <a:rPr lang="pt-BR" smtClean="0"/>
              <a:t>‹nº›</a:t>
            </a:fld>
            <a:endParaRPr lang="pt-BR"/>
          </a:p>
        </p:txBody>
      </p:sp>
    </p:spTree>
    <p:extLst>
      <p:ext uri="{BB962C8B-B14F-4D97-AF65-F5344CB8AC3E}">
        <p14:creationId xmlns:p14="http://schemas.microsoft.com/office/powerpoint/2010/main" val="4146608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BA987DFF-70F5-4A5D-BB98-BF95D74B6F45}" type="datetimeFigureOut">
              <a:rPr lang="pt-BR" smtClean="0"/>
              <a:t>25/11/2025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60EFE7A8-3F14-4850-AE5A-1BA9EA08DB86}" type="slidenum">
              <a:rPr lang="pt-BR" smtClean="0"/>
              <a:t>‹nº›</a:t>
            </a:fld>
            <a:endParaRPr lang="pt-BR"/>
          </a:p>
        </p:txBody>
      </p:sp>
    </p:spTree>
    <p:extLst>
      <p:ext uri="{BB962C8B-B14F-4D97-AF65-F5344CB8AC3E}">
        <p14:creationId xmlns:p14="http://schemas.microsoft.com/office/powerpoint/2010/main" val="24443258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A987DFF-70F5-4A5D-BB98-BF95D74B6F45}" type="datetimeFigureOut">
              <a:rPr lang="pt-BR" smtClean="0"/>
              <a:t>25/11/2025</a:t>
            </a:fld>
            <a:endParaRPr lang="pt-B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pt-B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0EFE7A8-3F14-4850-AE5A-1BA9EA08DB86}" type="slidenum">
              <a:rPr lang="pt-BR" smtClean="0"/>
              <a:t>‹nº›</a:t>
            </a:fld>
            <a:endParaRPr lang="pt-BR"/>
          </a:p>
        </p:txBody>
      </p:sp>
    </p:spTree>
    <p:extLst>
      <p:ext uri="{BB962C8B-B14F-4D97-AF65-F5344CB8AC3E}">
        <p14:creationId xmlns:p14="http://schemas.microsoft.com/office/powerpoint/2010/main" val="374546285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https://doi.org/10.1080/17524032.2017.1289111" TargetMode="External"/><Relationship Id="rId2" Type="http://schemas.openxmlformats.org/officeDocument/2006/relationships/hyperlink" Target="https://doi.org/10.1016/j.gloenvcha.2008.10.004" TargetMode="External"/><Relationship Id="rId1" Type="http://schemas.openxmlformats.org/officeDocument/2006/relationships/slideLayout" Target="../slideLayouts/slideLayout7.xml"/><Relationship Id="rId4" Type="http://schemas.openxmlformats.org/officeDocument/2006/relationships/hyperlink" Target="https://doi.org/10.1177/1075547020971644"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2157561-0748-FBF7-BAF1-97F8DA78E601}"/>
            </a:ext>
          </a:extLst>
        </p:cNvPr>
        <p:cNvGrpSpPr/>
        <p:nvPr/>
      </p:nvGrpSpPr>
      <p:grpSpPr>
        <a:xfrm>
          <a:off x="0" y="0"/>
          <a:ext cx="0" cy="0"/>
          <a:chOff x="0" y="0"/>
          <a:chExt cx="0" cy="0"/>
        </a:xfrm>
      </p:grpSpPr>
      <p:sp useBgFill="1">
        <p:nvSpPr>
          <p:cNvPr id="70" name="Rectangle 53">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55">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57">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59">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61">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Google Shape;98;p1">
            <a:extLst>
              <a:ext uri="{FF2B5EF4-FFF2-40B4-BE49-F238E27FC236}">
                <a16:creationId xmlns:a16="http://schemas.microsoft.com/office/drawing/2014/main" id="{186AEE18-F38F-2BAF-32D0-8D579B0228A7}"/>
              </a:ext>
            </a:extLst>
          </p:cNvPr>
          <p:cNvSpPr txBox="1">
            <a:spLocks/>
          </p:cNvSpPr>
          <p:nvPr/>
        </p:nvSpPr>
        <p:spPr>
          <a:xfrm>
            <a:off x="1386865" y="818984"/>
            <a:ext cx="10349614" cy="3660626"/>
          </a:xfrm>
          <a:prstGeom prst="rect">
            <a:avLst/>
          </a:prstGeom>
        </p:spPr>
        <p:txBody>
          <a:bodyPr spcFirstLastPara="1" vert="horz" lIns="91440" tIns="45720" rIns="91440" bIns="45720" rtlCol="0" anchor="b"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baseline="0">
                <a:solidFill>
                  <a:schemeClr val="tx1"/>
                </a:solidFill>
                <a:latin typeface="Open Sans Light" panose="020B03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baseline="0">
                <a:solidFill>
                  <a:schemeClr val="tx1"/>
                </a:solidFill>
                <a:latin typeface="Open Sans Light" panose="020B03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baseline="0">
                <a:solidFill>
                  <a:schemeClr val="tx1"/>
                </a:solidFill>
                <a:latin typeface="Open Sans Light" panose="020B03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baseline="0">
                <a:solidFill>
                  <a:schemeClr val="tx1"/>
                </a:solidFill>
                <a:latin typeface="Open Sans Light" panose="020B03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baseline="0">
                <a:solidFill>
                  <a:schemeClr val="tx1"/>
                </a:solidFill>
                <a:latin typeface="Open Sans Light" panose="020B03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spcBef>
                <a:spcPct val="0"/>
              </a:spcBef>
              <a:spcAft>
                <a:spcPts val="600"/>
              </a:spcAft>
              <a:buClr>
                <a:srgbClr val="5E5E5E"/>
              </a:buClr>
              <a:buSzPts val="3200"/>
              <a:buNone/>
            </a:pPr>
            <a:r>
              <a:rPr lang="en-US" sz="4400" b="1" kern="1200" dirty="0" err="1">
                <a:solidFill>
                  <a:srgbClr val="FFFFFF"/>
                </a:solidFill>
                <a:latin typeface="+mj-lt"/>
                <a:ea typeface="+mj-ea"/>
                <a:cs typeface="+mj-cs"/>
              </a:rPr>
              <a:t>Discursos</a:t>
            </a:r>
            <a:r>
              <a:rPr lang="en-US" sz="4400" b="1" kern="1200" dirty="0">
                <a:solidFill>
                  <a:srgbClr val="FFFFFF"/>
                </a:solidFill>
                <a:latin typeface="+mj-lt"/>
                <a:ea typeface="+mj-ea"/>
                <a:cs typeface="+mj-cs"/>
              </a:rPr>
              <a:t> da </a:t>
            </a:r>
            <a:r>
              <a:rPr lang="en-US" sz="4400" b="1" kern="1200" dirty="0" err="1">
                <a:solidFill>
                  <a:srgbClr val="FFFFFF"/>
                </a:solidFill>
                <a:latin typeface="+mj-lt"/>
                <a:ea typeface="+mj-ea"/>
                <a:cs typeface="+mj-cs"/>
              </a:rPr>
              <a:t>Inteligência</a:t>
            </a:r>
            <a:r>
              <a:rPr lang="en-US" sz="4400" b="1" kern="1200" dirty="0">
                <a:solidFill>
                  <a:srgbClr val="FFFFFF"/>
                </a:solidFill>
                <a:latin typeface="+mj-lt"/>
                <a:ea typeface="+mj-ea"/>
                <a:cs typeface="+mj-cs"/>
              </a:rPr>
              <a:t> Artificial </a:t>
            </a:r>
            <a:r>
              <a:rPr lang="en-US" sz="4400" b="1" kern="1200" dirty="0" err="1">
                <a:solidFill>
                  <a:srgbClr val="FFFFFF"/>
                </a:solidFill>
                <a:latin typeface="+mj-lt"/>
                <a:ea typeface="+mj-ea"/>
                <a:cs typeface="+mj-cs"/>
              </a:rPr>
              <a:t>sobre</a:t>
            </a:r>
            <a:r>
              <a:rPr lang="en-US" sz="4400" b="1" kern="1200" dirty="0">
                <a:solidFill>
                  <a:srgbClr val="FFFFFF"/>
                </a:solidFill>
                <a:latin typeface="+mj-lt"/>
                <a:ea typeface="+mj-ea"/>
                <a:cs typeface="+mj-cs"/>
              </a:rPr>
              <a:t> a </a:t>
            </a:r>
            <a:r>
              <a:rPr lang="en-US" sz="4400" b="1" dirty="0" err="1">
                <a:solidFill>
                  <a:srgbClr val="FFFFFF"/>
                </a:solidFill>
                <a:latin typeface="+mj-lt"/>
                <a:ea typeface="+mj-ea"/>
                <a:cs typeface="+mj-cs"/>
              </a:rPr>
              <a:t>mudança</a:t>
            </a:r>
            <a:r>
              <a:rPr lang="en-US" sz="4400" b="1" kern="1200" dirty="0">
                <a:solidFill>
                  <a:srgbClr val="FFFFFF"/>
                </a:solidFill>
                <a:latin typeface="+mj-lt"/>
                <a:ea typeface="+mj-ea"/>
                <a:cs typeface="+mj-cs"/>
              </a:rPr>
              <a:t> </a:t>
            </a:r>
            <a:r>
              <a:rPr lang="en-US" sz="4400" b="1" kern="1200" dirty="0" err="1">
                <a:solidFill>
                  <a:srgbClr val="FFFFFF"/>
                </a:solidFill>
                <a:latin typeface="+mj-lt"/>
                <a:ea typeface="+mj-ea"/>
                <a:cs typeface="+mj-cs"/>
              </a:rPr>
              <a:t>climática</a:t>
            </a:r>
            <a:r>
              <a:rPr lang="en-US" sz="4400" b="1" kern="1200" dirty="0">
                <a:solidFill>
                  <a:srgbClr val="FFFFFF"/>
                </a:solidFill>
                <a:latin typeface="+mj-lt"/>
                <a:ea typeface="+mj-ea"/>
                <a:cs typeface="+mj-cs"/>
              </a:rPr>
              <a:t>: Uma </a:t>
            </a:r>
            <a:r>
              <a:rPr lang="en-US" sz="4400" b="1" kern="1200" dirty="0" err="1">
                <a:solidFill>
                  <a:srgbClr val="FFFFFF"/>
                </a:solidFill>
                <a:latin typeface="+mj-lt"/>
                <a:ea typeface="+mj-ea"/>
                <a:cs typeface="+mj-cs"/>
              </a:rPr>
              <a:t>Análise</a:t>
            </a:r>
            <a:r>
              <a:rPr lang="en-US" sz="4400" b="1" kern="1200" dirty="0">
                <a:solidFill>
                  <a:srgbClr val="FFFFFF"/>
                </a:solidFill>
                <a:latin typeface="+mj-lt"/>
                <a:ea typeface="+mj-ea"/>
                <a:cs typeface="+mj-cs"/>
              </a:rPr>
              <a:t> Multidimensional Lexical </a:t>
            </a:r>
            <a:r>
              <a:rPr lang="en-US" sz="4400" b="1" dirty="0">
                <a:solidFill>
                  <a:srgbClr val="FFFFFF"/>
                </a:solidFill>
                <a:latin typeface="+mj-lt"/>
                <a:ea typeface="+mj-ea"/>
                <a:cs typeface="+mj-cs"/>
              </a:rPr>
              <a:t>d</a:t>
            </a:r>
            <a:r>
              <a:rPr lang="en-US" sz="4400" b="1" kern="1200" dirty="0">
                <a:solidFill>
                  <a:srgbClr val="FFFFFF"/>
                </a:solidFill>
                <a:latin typeface="+mj-lt"/>
                <a:ea typeface="+mj-ea"/>
                <a:cs typeface="+mj-cs"/>
              </a:rPr>
              <a:t>as LLMs</a:t>
            </a:r>
            <a:endParaRPr lang="en-US" sz="4400" b="1" kern="1200" dirty="0">
              <a:solidFill>
                <a:srgbClr val="FFFFFF"/>
              </a:solidFill>
              <a:effectLst/>
              <a:latin typeface="+mj-lt"/>
              <a:ea typeface="+mj-ea"/>
              <a:cs typeface="+mj-cs"/>
            </a:endParaRPr>
          </a:p>
        </p:txBody>
      </p:sp>
      <p:sp>
        <p:nvSpPr>
          <p:cNvPr id="75" name="Rectangle 63">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65">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98703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Google Shape;98;p1">
            <a:extLst>
              <a:ext uri="{FF2B5EF4-FFF2-40B4-BE49-F238E27FC236}">
                <a16:creationId xmlns:a16="http://schemas.microsoft.com/office/drawing/2014/main" id="{81D2ED08-8C13-DC97-960D-356F21C8A9B3}"/>
              </a:ext>
            </a:extLst>
          </p:cNvPr>
          <p:cNvSpPr txBox="1">
            <a:spLocks/>
          </p:cNvSpPr>
          <p:nvPr/>
        </p:nvSpPr>
        <p:spPr>
          <a:xfrm>
            <a:off x="1371599" y="294538"/>
            <a:ext cx="9895951" cy="1033669"/>
          </a:xfrm>
          <a:prstGeom prst="rect">
            <a:avLst/>
          </a:prstGeom>
        </p:spPr>
        <p:txBody>
          <a:bodyPr spcFirstLastPara="1"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baseline="0">
                <a:solidFill>
                  <a:schemeClr val="tx1"/>
                </a:solidFill>
                <a:latin typeface="Open Sans Light" panose="020B03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baseline="0">
                <a:solidFill>
                  <a:schemeClr val="tx1"/>
                </a:solidFill>
                <a:latin typeface="Open Sans Light" panose="020B03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baseline="0">
                <a:solidFill>
                  <a:schemeClr val="tx1"/>
                </a:solidFill>
                <a:latin typeface="Open Sans Light" panose="020B03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baseline="0">
                <a:solidFill>
                  <a:schemeClr val="tx1"/>
                </a:solidFill>
                <a:latin typeface="Open Sans Light" panose="020B03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baseline="0">
                <a:solidFill>
                  <a:schemeClr val="tx1"/>
                </a:solidFill>
                <a:latin typeface="Open Sans Light" panose="020B03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ts val="600"/>
              </a:spcAft>
              <a:buClr>
                <a:srgbClr val="5E5E5E"/>
              </a:buClr>
              <a:buSzPts val="3200"/>
              <a:buNone/>
            </a:pPr>
            <a:r>
              <a:rPr lang="en-US" sz="4000" b="1" kern="1200" dirty="0" err="1">
                <a:solidFill>
                  <a:srgbClr val="FFFFFF"/>
                </a:solidFill>
                <a:latin typeface="+mj-lt"/>
                <a:ea typeface="+mj-ea"/>
                <a:cs typeface="+mj-cs"/>
              </a:rPr>
              <a:t>Contextualização</a:t>
            </a:r>
            <a:endParaRPr lang="en-US" sz="4000" b="1" kern="1200" dirty="0">
              <a:solidFill>
                <a:srgbClr val="FFFFFF"/>
              </a:solidFill>
              <a:effectLst/>
              <a:latin typeface="+mj-lt"/>
              <a:ea typeface="+mj-ea"/>
              <a:cs typeface="+mj-cs"/>
            </a:endParaRPr>
          </a:p>
        </p:txBody>
      </p:sp>
      <p:sp>
        <p:nvSpPr>
          <p:cNvPr id="3" name="CaixaDeTexto 2">
            <a:extLst>
              <a:ext uri="{FF2B5EF4-FFF2-40B4-BE49-F238E27FC236}">
                <a16:creationId xmlns:a16="http://schemas.microsoft.com/office/drawing/2014/main" id="{C984DF30-FC8D-3D6C-8155-B42111C5EFCA}"/>
              </a:ext>
            </a:extLst>
          </p:cNvPr>
          <p:cNvSpPr txBox="1"/>
          <p:nvPr/>
        </p:nvSpPr>
        <p:spPr>
          <a:xfrm>
            <a:off x="1056291" y="2222938"/>
            <a:ext cx="10039340" cy="3778617"/>
          </a:xfrm>
          <a:prstGeom prst="rect">
            <a:avLst/>
          </a:prstGeom>
        </p:spPr>
        <p:txBody>
          <a:bodyPr vert="horz" lIns="91440" tIns="45720" rIns="91440" bIns="45720" rtlCol="0" anchor="ctr">
            <a:normAutofit/>
          </a:bodyPr>
          <a:lstStyle/>
          <a:p>
            <a:pPr marL="342900" indent="-228600" defTabSz="914400">
              <a:lnSpc>
                <a:spcPct val="90000"/>
              </a:lnSpc>
              <a:spcAft>
                <a:spcPts val="600"/>
              </a:spcAft>
              <a:buFont typeface="Arial" panose="020B0604020202020204" pitchFamily="34" charset="0"/>
              <a:buChar char="•"/>
            </a:pPr>
            <a:r>
              <a:rPr lang="pt-BR" sz="2000" dirty="0"/>
              <a:t>MUDAR TUDO AQUI</a:t>
            </a:r>
          </a:p>
          <a:p>
            <a:pPr marL="342900" indent="-228600" defTabSz="914400">
              <a:lnSpc>
                <a:spcPct val="90000"/>
              </a:lnSpc>
              <a:spcAft>
                <a:spcPts val="600"/>
              </a:spcAft>
              <a:buFont typeface="Arial" panose="020B0604020202020204" pitchFamily="34" charset="0"/>
              <a:buChar char="•"/>
            </a:pPr>
            <a:r>
              <a:rPr lang="pt-BR" sz="2000" dirty="0"/>
              <a:t>Diante dos últimos e crescentes eventos climáticos extremos (enchentes no Brasil, Espanha, incêndios no Brasil, EUA, terremotos Japão, furacões EUA), das nações quebrando acordos de diminuição de destruição e taxas de emissão de carbono,  culminando na reeleição de um presidente dos EUA, país chave no cenário mundial, declaradamente contra a agenda ambiental, parece imperativo investigarmos quais discursos emergem quando o assunto tangencia mudança climática, representados pelos sintagmas: </a:t>
            </a:r>
            <a:r>
              <a:rPr lang="pt-BR" sz="2000" b="1" dirty="0" err="1"/>
              <a:t>Climate</a:t>
            </a:r>
            <a:r>
              <a:rPr lang="pt-BR" sz="2000" b="1" dirty="0"/>
              <a:t> </a:t>
            </a:r>
            <a:r>
              <a:rPr lang="pt-BR" sz="2000" b="1" dirty="0" err="1"/>
              <a:t>Emergency</a:t>
            </a:r>
            <a:r>
              <a:rPr lang="pt-BR" sz="2000" b="1" dirty="0"/>
              <a:t>, </a:t>
            </a:r>
            <a:r>
              <a:rPr lang="pt-BR" sz="2000" b="1" dirty="0" err="1"/>
              <a:t>Climate</a:t>
            </a:r>
            <a:r>
              <a:rPr lang="pt-BR" sz="2000" b="1" dirty="0"/>
              <a:t> </a:t>
            </a:r>
            <a:r>
              <a:rPr lang="pt-BR" sz="2000" b="1" dirty="0" err="1"/>
              <a:t>Change</a:t>
            </a:r>
            <a:r>
              <a:rPr lang="pt-BR" sz="2000" b="1" dirty="0"/>
              <a:t>, </a:t>
            </a:r>
            <a:r>
              <a:rPr lang="pt-BR" sz="2000" b="1" dirty="0" err="1"/>
              <a:t>Globa</a:t>
            </a:r>
            <a:r>
              <a:rPr lang="pt-BR" sz="2000" b="1" dirty="0"/>
              <a:t> </a:t>
            </a:r>
            <a:r>
              <a:rPr lang="pt-BR" sz="2000" b="1" dirty="0" err="1"/>
              <a:t>Warming</a:t>
            </a:r>
            <a:r>
              <a:rPr lang="pt-BR" sz="2000" b="1" dirty="0"/>
              <a:t>, </a:t>
            </a:r>
            <a:r>
              <a:rPr lang="pt-BR" sz="2000" b="1" dirty="0" err="1"/>
              <a:t>Climate</a:t>
            </a:r>
            <a:r>
              <a:rPr lang="pt-BR" sz="2000" b="1" dirty="0"/>
              <a:t> Crises </a:t>
            </a:r>
            <a:r>
              <a:rPr lang="pt-BR" sz="2000" dirty="0"/>
              <a:t>.</a:t>
            </a:r>
            <a:endParaRPr lang="pt-BR" sz="2000" b="1" dirty="0"/>
          </a:p>
        </p:txBody>
      </p:sp>
    </p:spTree>
    <p:extLst>
      <p:ext uri="{BB962C8B-B14F-4D97-AF65-F5344CB8AC3E}">
        <p14:creationId xmlns:p14="http://schemas.microsoft.com/office/powerpoint/2010/main" val="19643349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510A6AA-8484-8060-1DF9-EAB05016474E}"/>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7EFA8F2-BCBE-29FA-9C07-0FFEF99E1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15C862F8-ABA2-4EE8-FD88-C1BFE3A59E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3E189C16-DAA2-9505-2496-A2FC8CF1F9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E8C08904-3194-3996-C950-C0CADF0A9B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63F2EEAC-3B3F-7751-216B-EFC09BDC60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Google Shape;98;p1">
            <a:extLst>
              <a:ext uri="{FF2B5EF4-FFF2-40B4-BE49-F238E27FC236}">
                <a16:creationId xmlns:a16="http://schemas.microsoft.com/office/drawing/2014/main" id="{B6051239-78F1-3568-99F3-10C095770FD5}"/>
              </a:ext>
            </a:extLst>
          </p:cNvPr>
          <p:cNvSpPr txBox="1">
            <a:spLocks/>
          </p:cNvSpPr>
          <p:nvPr/>
        </p:nvSpPr>
        <p:spPr>
          <a:xfrm>
            <a:off x="1371599" y="294538"/>
            <a:ext cx="9895951" cy="1033669"/>
          </a:xfrm>
          <a:prstGeom prst="rect">
            <a:avLst/>
          </a:prstGeom>
        </p:spPr>
        <p:txBody>
          <a:bodyPr spcFirstLastPara="1"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baseline="0">
                <a:solidFill>
                  <a:schemeClr val="tx1"/>
                </a:solidFill>
                <a:latin typeface="Open Sans Light" panose="020B03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baseline="0">
                <a:solidFill>
                  <a:schemeClr val="tx1"/>
                </a:solidFill>
                <a:latin typeface="Open Sans Light" panose="020B03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baseline="0">
                <a:solidFill>
                  <a:schemeClr val="tx1"/>
                </a:solidFill>
                <a:latin typeface="Open Sans Light" panose="020B03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baseline="0">
                <a:solidFill>
                  <a:schemeClr val="tx1"/>
                </a:solidFill>
                <a:latin typeface="Open Sans Light" panose="020B03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baseline="0">
                <a:solidFill>
                  <a:schemeClr val="tx1"/>
                </a:solidFill>
                <a:latin typeface="Open Sans Light" panose="020B03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ts val="600"/>
              </a:spcAft>
              <a:buClr>
                <a:srgbClr val="5E5E5E"/>
              </a:buClr>
              <a:buSzPts val="3200"/>
              <a:buNone/>
            </a:pPr>
            <a:r>
              <a:rPr lang="en-US" sz="4000" b="1" dirty="0">
                <a:solidFill>
                  <a:srgbClr val="FFFFFF"/>
                </a:solidFill>
                <a:effectLst/>
                <a:latin typeface="+mj-lt"/>
                <a:ea typeface="+mj-ea"/>
                <a:cs typeface="+mj-cs"/>
              </a:rPr>
              <a:t>Tema</a:t>
            </a:r>
            <a:endParaRPr lang="en-US" sz="4000" b="1" kern="1200" dirty="0">
              <a:solidFill>
                <a:srgbClr val="FFFFFF"/>
              </a:solidFill>
              <a:effectLst/>
              <a:latin typeface="+mj-lt"/>
              <a:ea typeface="+mj-ea"/>
              <a:cs typeface="+mj-cs"/>
            </a:endParaRPr>
          </a:p>
        </p:txBody>
      </p:sp>
      <p:sp>
        <p:nvSpPr>
          <p:cNvPr id="3" name="CaixaDeTexto 2">
            <a:extLst>
              <a:ext uri="{FF2B5EF4-FFF2-40B4-BE49-F238E27FC236}">
                <a16:creationId xmlns:a16="http://schemas.microsoft.com/office/drawing/2014/main" id="{DD64E75B-1117-828D-03A5-08474FFF6D3D}"/>
              </a:ext>
            </a:extLst>
          </p:cNvPr>
          <p:cNvSpPr txBox="1"/>
          <p:nvPr/>
        </p:nvSpPr>
        <p:spPr>
          <a:xfrm>
            <a:off x="1056291" y="2002214"/>
            <a:ext cx="10039340" cy="3778617"/>
          </a:xfrm>
          <a:prstGeom prst="rect">
            <a:avLst/>
          </a:prstGeom>
        </p:spPr>
        <p:txBody>
          <a:bodyPr vert="horz" lIns="91440" tIns="45720" rIns="91440" bIns="45720" rtlCol="0" anchor="ctr">
            <a:normAutofit/>
          </a:bodyPr>
          <a:lstStyle/>
          <a:p>
            <a:pPr marL="342900" indent="-228600" defTabSz="914400">
              <a:lnSpc>
                <a:spcPct val="90000"/>
              </a:lnSpc>
              <a:spcAft>
                <a:spcPts val="600"/>
              </a:spcAft>
              <a:buFont typeface="Arial" panose="020B0604020202020204" pitchFamily="34" charset="0"/>
              <a:buChar char="•"/>
            </a:pPr>
            <a:r>
              <a:rPr lang="pt-BR" sz="3200" b="1" dirty="0"/>
              <a:t>Discursos produzidos-reproduzidos pelas </a:t>
            </a:r>
            <a:r>
              <a:rPr lang="pt-BR" sz="3200" b="1" dirty="0" err="1"/>
              <a:t>LLMs</a:t>
            </a:r>
            <a:r>
              <a:rPr lang="pt-BR" sz="3200" b="1" dirty="0"/>
              <a:t> sobre mudança climática</a:t>
            </a:r>
          </a:p>
        </p:txBody>
      </p:sp>
    </p:spTree>
    <p:extLst>
      <p:ext uri="{BB962C8B-B14F-4D97-AF65-F5344CB8AC3E}">
        <p14:creationId xmlns:p14="http://schemas.microsoft.com/office/powerpoint/2010/main" val="27896574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Google Shape;98;p1">
            <a:extLst>
              <a:ext uri="{FF2B5EF4-FFF2-40B4-BE49-F238E27FC236}">
                <a16:creationId xmlns:a16="http://schemas.microsoft.com/office/drawing/2014/main" id="{81D2ED08-8C13-DC97-960D-356F21C8A9B3}"/>
              </a:ext>
            </a:extLst>
          </p:cNvPr>
          <p:cNvSpPr txBox="1">
            <a:spLocks/>
          </p:cNvSpPr>
          <p:nvPr/>
        </p:nvSpPr>
        <p:spPr>
          <a:xfrm>
            <a:off x="1371599" y="294538"/>
            <a:ext cx="9895951" cy="1033669"/>
          </a:xfrm>
          <a:prstGeom prst="rect">
            <a:avLst/>
          </a:prstGeom>
        </p:spPr>
        <p:txBody>
          <a:bodyPr spcFirstLastPara="1"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baseline="0">
                <a:solidFill>
                  <a:schemeClr val="tx1"/>
                </a:solidFill>
                <a:latin typeface="Open Sans Light" panose="020B03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baseline="0">
                <a:solidFill>
                  <a:schemeClr val="tx1"/>
                </a:solidFill>
                <a:latin typeface="Open Sans Light" panose="020B03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baseline="0">
                <a:solidFill>
                  <a:schemeClr val="tx1"/>
                </a:solidFill>
                <a:latin typeface="Open Sans Light" panose="020B03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baseline="0">
                <a:solidFill>
                  <a:schemeClr val="tx1"/>
                </a:solidFill>
                <a:latin typeface="Open Sans Light" panose="020B03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baseline="0">
                <a:solidFill>
                  <a:schemeClr val="tx1"/>
                </a:solidFill>
                <a:latin typeface="Open Sans Light" panose="020B03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ts val="600"/>
              </a:spcAft>
              <a:buClr>
                <a:srgbClr val="5E5E5E"/>
              </a:buClr>
              <a:buSzPts val="3200"/>
              <a:buNone/>
            </a:pPr>
            <a:r>
              <a:rPr lang="en-US" sz="4000" b="1" kern="1200" dirty="0" err="1">
                <a:solidFill>
                  <a:srgbClr val="FFFFFF"/>
                </a:solidFill>
                <a:latin typeface="+mj-lt"/>
                <a:ea typeface="+mj-ea"/>
                <a:cs typeface="+mj-cs"/>
              </a:rPr>
              <a:t>Objetivos</a:t>
            </a:r>
            <a:endParaRPr lang="en-US" sz="4000" b="1" kern="1200" dirty="0">
              <a:solidFill>
                <a:srgbClr val="FFFFFF"/>
              </a:solidFill>
              <a:effectLst/>
              <a:latin typeface="+mj-lt"/>
              <a:ea typeface="+mj-ea"/>
              <a:cs typeface="+mj-cs"/>
            </a:endParaRPr>
          </a:p>
        </p:txBody>
      </p:sp>
      <p:sp>
        <p:nvSpPr>
          <p:cNvPr id="3" name="CaixaDeTexto 2">
            <a:extLst>
              <a:ext uri="{FF2B5EF4-FFF2-40B4-BE49-F238E27FC236}">
                <a16:creationId xmlns:a16="http://schemas.microsoft.com/office/drawing/2014/main" id="{C984DF30-FC8D-3D6C-8155-B42111C5EFCA}"/>
              </a:ext>
            </a:extLst>
          </p:cNvPr>
          <p:cNvSpPr txBox="1"/>
          <p:nvPr/>
        </p:nvSpPr>
        <p:spPr>
          <a:xfrm>
            <a:off x="930167" y="2112694"/>
            <a:ext cx="10039340" cy="3778617"/>
          </a:xfrm>
          <a:prstGeom prst="rect">
            <a:avLst/>
          </a:prstGeom>
        </p:spPr>
        <p:txBody>
          <a:bodyPr vert="horz" lIns="91440" tIns="45720" rIns="91440" bIns="45720" rtlCol="0" anchor="ctr">
            <a:normAutofit/>
          </a:bodyPr>
          <a:lstStyle/>
          <a:p>
            <a:pPr marL="342900" indent="-342900">
              <a:buFont typeface="Arial" panose="020B0604020202020204" pitchFamily="34" charset="0"/>
              <a:buChar char="•"/>
            </a:pPr>
            <a:r>
              <a:rPr lang="pt-BR" sz="2400" dirty="0"/>
              <a:t>Determinar discursos sobre mudança climática em domínios chave.</a:t>
            </a:r>
          </a:p>
          <a:p>
            <a:pPr marL="342900" indent="-342900">
              <a:buFont typeface="Arial" panose="020B0604020202020204" pitchFamily="34" charset="0"/>
              <a:buChar char="•"/>
            </a:pPr>
            <a:endParaRPr lang="pt-BR" sz="2400" dirty="0"/>
          </a:p>
          <a:p>
            <a:pPr marL="342900" indent="-342900">
              <a:buFont typeface="Arial" panose="020B0604020202020204" pitchFamily="34" charset="0"/>
              <a:buChar char="•"/>
            </a:pPr>
            <a:endParaRPr lang="pt-BR" sz="2400" dirty="0"/>
          </a:p>
          <a:p>
            <a:pPr marL="342900" indent="-342900">
              <a:buFont typeface="Arial" panose="020B0604020202020204" pitchFamily="34" charset="0"/>
              <a:buChar char="•"/>
            </a:pPr>
            <a:r>
              <a:rPr lang="pt-BR" sz="2400" dirty="0"/>
              <a:t>Comparar os discursos de IA sobre mudança climática com os discursos humanos na Internet, representados por diversos atores em diferentes registros.</a:t>
            </a:r>
          </a:p>
          <a:p>
            <a:pPr marL="342900" indent="-342900">
              <a:buFont typeface="Arial" panose="020B0604020202020204" pitchFamily="34" charset="0"/>
              <a:buChar char="•"/>
            </a:pPr>
            <a:endParaRPr lang="pt-BR" sz="2400" dirty="0"/>
          </a:p>
          <a:p>
            <a:pPr marL="342900" indent="-342900">
              <a:buFont typeface="Arial" panose="020B0604020202020204" pitchFamily="34" charset="0"/>
              <a:buChar char="•"/>
            </a:pPr>
            <a:endParaRPr lang="pt-BR" sz="2400" dirty="0"/>
          </a:p>
          <a:p>
            <a:pPr marL="342900" indent="-342900">
              <a:buFont typeface="Arial" panose="020B0604020202020204" pitchFamily="34" charset="0"/>
              <a:buChar char="•"/>
            </a:pPr>
            <a:r>
              <a:rPr lang="pt-BR" sz="2400" dirty="0"/>
              <a:t>Determinar o viés ideológico no conhecimento da IA.</a:t>
            </a:r>
          </a:p>
        </p:txBody>
      </p:sp>
    </p:spTree>
    <p:extLst>
      <p:ext uri="{BB962C8B-B14F-4D97-AF65-F5344CB8AC3E}">
        <p14:creationId xmlns:p14="http://schemas.microsoft.com/office/powerpoint/2010/main" val="11480531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Google Shape;98;p1">
            <a:extLst>
              <a:ext uri="{FF2B5EF4-FFF2-40B4-BE49-F238E27FC236}">
                <a16:creationId xmlns:a16="http://schemas.microsoft.com/office/drawing/2014/main" id="{81D2ED08-8C13-DC97-960D-356F21C8A9B3}"/>
              </a:ext>
            </a:extLst>
          </p:cNvPr>
          <p:cNvSpPr txBox="1">
            <a:spLocks/>
          </p:cNvSpPr>
          <p:nvPr/>
        </p:nvSpPr>
        <p:spPr>
          <a:xfrm>
            <a:off x="1371599" y="294538"/>
            <a:ext cx="9895951" cy="1033669"/>
          </a:xfrm>
          <a:prstGeom prst="rect">
            <a:avLst/>
          </a:prstGeom>
        </p:spPr>
        <p:txBody>
          <a:bodyPr spcFirstLastPara="1"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baseline="0">
                <a:solidFill>
                  <a:schemeClr val="tx1"/>
                </a:solidFill>
                <a:latin typeface="Open Sans Light" panose="020B03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baseline="0">
                <a:solidFill>
                  <a:schemeClr val="tx1"/>
                </a:solidFill>
                <a:latin typeface="Open Sans Light" panose="020B03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baseline="0">
                <a:solidFill>
                  <a:schemeClr val="tx1"/>
                </a:solidFill>
                <a:latin typeface="Open Sans Light" panose="020B03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baseline="0">
                <a:solidFill>
                  <a:schemeClr val="tx1"/>
                </a:solidFill>
                <a:latin typeface="Open Sans Light" panose="020B03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baseline="0">
                <a:solidFill>
                  <a:schemeClr val="tx1"/>
                </a:solidFill>
                <a:latin typeface="Open Sans Light" panose="020B03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ts val="600"/>
              </a:spcAft>
              <a:buClr>
                <a:srgbClr val="5E5E5E"/>
              </a:buClr>
              <a:buSzPts val="3200"/>
              <a:buNone/>
            </a:pPr>
            <a:r>
              <a:rPr lang="en-US" sz="4000" b="1" kern="1200" dirty="0" err="1">
                <a:solidFill>
                  <a:srgbClr val="FFFFFF"/>
                </a:solidFill>
                <a:latin typeface="+mj-lt"/>
                <a:ea typeface="+mj-ea"/>
                <a:cs typeface="+mj-cs"/>
              </a:rPr>
              <a:t>Perguntas</a:t>
            </a:r>
            <a:r>
              <a:rPr lang="en-US" sz="4000" b="1" kern="1200" dirty="0">
                <a:solidFill>
                  <a:srgbClr val="FFFFFF"/>
                </a:solidFill>
                <a:latin typeface="+mj-lt"/>
                <a:ea typeface="+mj-ea"/>
                <a:cs typeface="+mj-cs"/>
              </a:rPr>
              <a:t> de </a:t>
            </a:r>
            <a:r>
              <a:rPr lang="en-US" sz="4000" b="1" kern="1200" dirty="0" err="1">
                <a:solidFill>
                  <a:srgbClr val="FFFFFF"/>
                </a:solidFill>
                <a:latin typeface="+mj-lt"/>
                <a:ea typeface="+mj-ea"/>
                <a:cs typeface="+mj-cs"/>
              </a:rPr>
              <a:t>pesquisa</a:t>
            </a:r>
            <a:endParaRPr lang="en-US" sz="4000" b="1" kern="1200" dirty="0">
              <a:solidFill>
                <a:srgbClr val="FFFFFF"/>
              </a:solidFill>
              <a:effectLst/>
              <a:latin typeface="+mj-lt"/>
              <a:ea typeface="+mj-ea"/>
              <a:cs typeface="+mj-cs"/>
            </a:endParaRPr>
          </a:p>
        </p:txBody>
      </p:sp>
      <p:sp>
        <p:nvSpPr>
          <p:cNvPr id="3" name="CaixaDeTexto 2">
            <a:extLst>
              <a:ext uri="{FF2B5EF4-FFF2-40B4-BE49-F238E27FC236}">
                <a16:creationId xmlns:a16="http://schemas.microsoft.com/office/drawing/2014/main" id="{C984DF30-FC8D-3D6C-8155-B42111C5EFCA}"/>
              </a:ext>
            </a:extLst>
          </p:cNvPr>
          <p:cNvSpPr txBox="1"/>
          <p:nvPr/>
        </p:nvSpPr>
        <p:spPr>
          <a:xfrm>
            <a:off x="1056291" y="2333300"/>
            <a:ext cx="10039340" cy="3778617"/>
          </a:xfrm>
          <a:prstGeom prst="rect">
            <a:avLst/>
          </a:prstGeom>
        </p:spPr>
        <p:txBody>
          <a:bodyPr vert="horz" lIns="91440" tIns="45720" rIns="91440" bIns="45720" rtlCol="0" anchor="ctr">
            <a:noAutofit/>
          </a:bodyPr>
          <a:lstStyle/>
          <a:p>
            <a:pPr marL="342900" indent="-228600" defTabSz="914400">
              <a:lnSpc>
                <a:spcPct val="90000"/>
              </a:lnSpc>
              <a:spcAft>
                <a:spcPts val="600"/>
              </a:spcAft>
              <a:buFont typeface="Arial" panose="020B0604020202020204" pitchFamily="34" charset="0"/>
              <a:buChar char="•"/>
            </a:pPr>
            <a:r>
              <a:rPr lang="pt-BR" sz="2200" noProof="0" dirty="0"/>
              <a:t>Quais os perfis dimensionais discursivos </a:t>
            </a:r>
            <a:r>
              <a:rPr lang="pt-BR" sz="2200" dirty="0"/>
              <a:t>sobre mudança climática </a:t>
            </a:r>
            <a:r>
              <a:rPr lang="pt-BR" sz="2200" noProof="0" dirty="0"/>
              <a:t>sob a perspectiva das </a:t>
            </a:r>
            <a:r>
              <a:rPr lang="pt-BR" sz="2200" noProof="0" dirty="0" err="1"/>
              <a:t>LLMs</a:t>
            </a:r>
            <a:r>
              <a:rPr lang="pt-BR" sz="2200" noProof="0" dirty="0"/>
              <a:t> (ChatGPT, Gemini, </a:t>
            </a:r>
            <a:r>
              <a:rPr lang="pt-BR" sz="2200" noProof="0" dirty="0" err="1"/>
              <a:t>Grok</a:t>
            </a:r>
            <a:r>
              <a:rPr lang="pt-BR" sz="2200" noProof="0" dirty="0"/>
              <a:t>)? E quais os perfis dimensionais discursivos sob a perspectiva de textos produzidos por humanos na internet?</a:t>
            </a:r>
          </a:p>
          <a:p>
            <a:pPr marL="114300" defTabSz="914400">
              <a:lnSpc>
                <a:spcPct val="90000"/>
              </a:lnSpc>
              <a:spcAft>
                <a:spcPts val="600"/>
              </a:spcAft>
            </a:pPr>
            <a:endParaRPr lang="pt-BR" sz="2200" noProof="0" dirty="0"/>
          </a:p>
          <a:p>
            <a:pPr marL="342900" indent="-228600" defTabSz="914400">
              <a:lnSpc>
                <a:spcPct val="90000"/>
              </a:lnSpc>
              <a:spcAft>
                <a:spcPts val="600"/>
              </a:spcAft>
              <a:buFont typeface="Arial" panose="020B0604020202020204" pitchFamily="34" charset="0"/>
              <a:buChar char="•"/>
            </a:pPr>
            <a:r>
              <a:rPr lang="pt-BR" sz="2200" noProof="0" dirty="0">
                <a:ea typeface="Aptos" panose="020B0004020202020204" pitchFamily="34" charset="0"/>
                <a:cs typeface="Times New Roman" panose="02020603050405020304" pitchFamily="18" charset="0"/>
              </a:rPr>
              <a:t>Quais as consonâncias e tensionamentos </a:t>
            </a:r>
            <a:r>
              <a:rPr lang="pt-BR" sz="2200" b="1" noProof="0" dirty="0">
                <a:solidFill>
                  <a:srgbClr val="FF0000"/>
                </a:solidFill>
                <a:ea typeface="Aptos" panose="020B0004020202020204" pitchFamily="34" charset="0"/>
                <a:cs typeface="Times New Roman" panose="02020603050405020304" pitchFamily="18" charset="0"/>
              </a:rPr>
              <a:t>(CONCEITUALIZAR CONSONANCIA E TENSIONAMENTO EM DISCURSO)</a:t>
            </a:r>
            <a:r>
              <a:rPr lang="pt-BR" sz="2200" noProof="0" dirty="0">
                <a:ea typeface="Aptos" panose="020B0004020202020204" pitchFamily="34" charset="0"/>
                <a:cs typeface="Times New Roman" panose="02020603050405020304" pitchFamily="18" charset="0"/>
              </a:rPr>
              <a:t> entre os discursos de </a:t>
            </a:r>
            <a:r>
              <a:rPr lang="pt-BR" sz="2200" noProof="0" dirty="0" err="1">
                <a:ea typeface="Aptos" panose="020B0004020202020204" pitchFamily="34" charset="0"/>
                <a:cs typeface="Times New Roman" panose="02020603050405020304" pitchFamily="18" charset="0"/>
              </a:rPr>
              <a:t>LLMs</a:t>
            </a:r>
            <a:r>
              <a:rPr lang="pt-BR" sz="2200" noProof="0" dirty="0">
                <a:ea typeface="Aptos" panose="020B0004020202020204" pitchFamily="34" charset="0"/>
                <a:cs typeface="Times New Roman" panose="02020603050405020304" pitchFamily="18" charset="0"/>
              </a:rPr>
              <a:t> e dos seres humanos na Internet sobre mudança climática?</a:t>
            </a:r>
          </a:p>
        </p:txBody>
      </p:sp>
    </p:spTree>
    <p:extLst>
      <p:ext uri="{BB962C8B-B14F-4D97-AF65-F5344CB8AC3E}">
        <p14:creationId xmlns:p14="http://schemas.microsoft.com/office/powerpoint/2010/main" val="35308666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5F27B10-13E2-79EB-50FE-5E27FC85ED87}"/>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84B9B55-DCAC-B97D-39B7-4115179902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2BC4E56-2354-326F-7CFB-B931C970E4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5B4B656-7E7B-215D-0E67-93292087B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69FC16F1-26D3-B88F-6554-8E5C245CB7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FC891223-DD56-617D-DD2A-0CE6B8130E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Google Shape;98;p1">
            <a:extLst>
              <a:ext uri="{FF2B5EF4-FFF2-40B4-BE49-F238E27FC236}">
                <a16:creationId xmlns:a16="http://schemas.microsoft.com/office/drawing/2014/main" id="{80323BFB-2B14-8594-4585-4A313C081E1C}"/>
              </a:ext>
            </a:extLst>
          </p:cNvPr>
          <p:cNvSpPr txBox="1">
            <a:spLocks/>
          </p:cNvSpPr>
          <p:nvPr/>
        </p:nvSpPr>
        <p:spPr>
          <a:xfrm>
            <a:off x="1371599" y="294538"/>
            <a:ext cx="9895951" cy="1033669"/>
          </a:xfrm>
          <a:prstGeom prst="rect">
            <a:avLst/>
          </a:prstGeom>
        </p:spPr>
        <p:txBody>
          <a:bodyPr spcFirstLastPara="1"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baseline="0">
                <a:solidFill>
                  <a:schemeClr val="tx1"/>
                </a:solidFill>
                <a:latin typeface="Open Sans Light" panose="020B03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baseline="0">
                <a:solidFill>
                  <a:schemeClr val="tx1"/>
                </a:solidFill>
                <a:latin typeface="Open Sans Light" panose="020B03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baseline="0">
                <a:solidFill>
                  <a:schemeClr val="tx1"/>
                </a:solidFill>
                <a:latin typeface="Open Sans Light" panose="020B03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baseline="0">
                <a:solidFill>
                  <a:schemeClr val="tx1"/>
                </a:solidFill>
                <a:latin typeface="Open Sans Light" panose="020B03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baseline="0">
                <a:solidFill>
                  <a:schemeClr val="tx1"/>
                </a:solidFill>
                <a:latin typeface="Open Sans Light" panose="020B03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ts val="600"/>
              </a:spcAft>
              <a:buClr>
                <a:srgbClr val="5E5E5E"/>
              </a:buClr>
              <a:buSzPts val="3200"/>
              <a:buNone/>
            </a:pPr>
            <a:r>
              <a:rPr lang="en-US" sz="4000" b="1" kern="1200" dirty="0" err="1">
                <a:solidFill>
                  <a:srgbClr val="FFFFFF"/>
                </a:solidFill>
                <a:latin typeface="+mj-lt"/>
                <a:ea typeface="+mj-ea"/>
                <a:cs typeface="+mj-cs"/>
              </a:rPr>
              <a:t>Discurso</a:t>
            </a:r>
            <a:endParaRPr lang="en-US" sz="4000" b="1" kern="1200" dirty="0">
              <a:solidFill>
                <a:srgbClr val="FFFFFF"/>
              </a:solidFill>
              <a:effectLst/>
              <a:latin typeface="+mj-lt"/>
              <a:ea typeface="+mj-ea"/>
              <a:cs typeface="+mj-cs"/>
            </a:endParaRPr>
          </a:p>
        </p:txBody>
      </p:sp>
      <p:sp>
        <p:nvSpPr>
          <p:cNvPr id="3" name="CaixaDeTexto 2">
            <a:extLst>
              <a:ext uri="{FF2B5EF4-FFF2-40B4-BE49-F238E27FC236}">
                <a16:creationId xmlns:a16="http://schemas.microsoft.com/office/drawing/2014/main" id="{D960D6CA-FC91-132C-8296-CEC899750653}"/>
              </a:ext>
            </a:extLst>
          </p:cNvPr>
          <p:cNvSpPr txBox="1"/>
          <p:nvPr/>
        </p:nvSpPr>
        <p:spPr>
          <a:xfrm>
            <a:off x="1056291" y="2333300"/>
            <a:ext cx="10039340" cy="3778617"/>
          </a:xfrm>
          <a:prstGeom prst="rect">
            <a:avLst/>
          </a:prstGeom>
        </p:spPr>
        <p:txBody>
          <a:bodyPr vert="horz" lIns="91440" tIns="45720" rIns="91440" bIns="45720" rtlCol="0" anchor="ctr">
            <a:noAutofit/>
          </a:bodyPr>
          <a:lstStyle/>
          <a:p>
            <a:pPr marL="342900" indent="-228600" defTabSz="914400">
              <a:lnSpc>
                <a:spcPct val="90000"/>
              </a:lnSpc>
              <a:spcAft>
                <a:spcPts val="600"/>
              </a:spcAft>
              <a:buFont typeface="Arial" panose="020B0604020202020204" pitchFamily="34" charset="0"/>
              <a:buChar char="•"/>
            </a:pPr>
            <a:r>
              <a:rPr lang="pt-BR" sz="2400" dirty="0"/>
              <a:t>[...] por discursos entendemos representações socialmente compartilhadas e socialmente situadas de fenômenos do mundo real transmitidas implicitamente através do uso da linguagem. Por serem compartilhadas, os discursos ideológicos também restringem ou limitam como os fenômenos do mundo real são representados. Por socialmente situadas, queremos dizer que os discursos ideológicos são desenvolvidos através da prática social e da experiência social. Por representarem fenômenos do mundo real, os discursos ideológicos produzem significado (</a:t>
            </a:r>
            <a:r>
              <a:rPr lang="pt-BR" sz="2400" dirty="0" err="1"/>
              <a:t>Berber</a:t>
            </a:r>
            <a:r>
              <a:rPr lang="pt-BR" sz="2400" dirty="0"/>
              <a:t> Sardinha; </a:t>
            </a:r>
            <a:r>
              <a:rPr lang="pt-BR" sz="2400" dirty="0" err="1"/>
              <a:t>Fitzsimmons-Doolan</a:t>
            </a:r>
            <a:r>
              <a:rPr lang="pt-BR" sz="2400" dirty="0"/>
              <a:t>, 2025).</a:t>
            </a:r>
            <a:endParaRPr lang="pt-BR" sz="2200" noProof="0" dirty="0"/>
          </a:p>
        </p:txBody>
      </p:sp>
    </p:spTree>
    <p:extLst>
      <p:ext uri="{BB962C8B-B14F-4D97-AF65-F5344CB8AC3E}">
        <p14:creationId xmlns:p14="http://schemas.microsoft.com/office/powerpoint/2010/main" val="12578513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575DC32-2ED1-7026-86DA-9F8683FB205F}"/>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D9BF335-597A-3E07-ED25-D6FC257F25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955B8F50-06B1-7A1C-D1F5-9D65E5699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347B8563-75A4-3E71-360C-EB7BB755FF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871FEC7D-BD1C-E2C2-3A86-D3E8446FF4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7A6AA241-5AF6-D6AE-A1DD-477B5EDFE3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Google Shape;98;p1">
            <a:extLst>
              <a:ext uri="{FF2B5EF4-FFF2-40B4-BE49-F238E27FC236}">
                <a16:creationId xmlns:a16="http://schemas.microsoft.com/office/drawing/2014/main" id="{DBF9784F-B91F-E852-469D-1B8C3D748688}"/>
              </a:ext>
            </a:extLst>
          </p:cNvPr>
          <p:cNvSpPr txBox="1">
            <a:spLocks/>
          </p:cNvSpPr>
          <p:nvPr/>
        </p:nvSpPr>
        <p:spPr>
          <a:xfrm>
            <a:off x="1371599" y="294538"/>
            <a:ext cx="9895951" cy="1033669"/>
          </a:xfrm>
          <a:prstGeom prst="rect">
            <a:avLst/>
          </a:prstGeom>
        </p:spPr>
        <p:txBody>
          <a:bodyPr spcFirstLastPara="1"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baseline="0">
                <a:solidFill>
                  <a:schemeClr val="tx1"/>
                </a:solidFill>
                <a:latin typeface="Open Sans Light" panose="020B03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baseline="0">
                <a:solidFill>
                  <a:schemeClr val="tx1"/>
                </a:solidFill>
                <a:latin typeface="Open Sans Light" panose="020B03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baseline="0">
                <a:solidFill>
                  <a:schemeClr val="tx1"/>
                </a:solidFill>
                <a:latin typeface="Open Sans Light" panose="020B03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baseline="0">
                <a:solidFill>
                  <a:schemeClr val="tx1"/>
                </a:solidFill>
                <a:latin typeface="Open Sans Light" panose="020B03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baseline="0">
                <a:solidFill>
                  <a:schemeClr val="tx1"/>
                </a:solidFill>
                <a:latin typeface="Open Sans Light" panose="020B03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ts val="600"/>
              </a:spcAft>
              <a:buClr>
                <a:srgbClr val="5E5E5E"/>
              </a:buClr>
              <a:buSzPts val="3200"/>
              <a:buNone/>
            </a:pPr>
            <a:r>
              <a:rPr lang="en-US" sz="4000" b="1" kern="1200" dirty="0" err="1">
                <a:solidFill>
                  <a:srgbClr val="FFFFFF"/>
                </a:solidFill>
                <a:latin typeface="+mj-lt"/>
                <a:ea typeface="+mj-ea"/>
                <a:cs typeface="+mj-cs"/>
              </a:rPr>
              <a:t>Problematização</a:t>
            </a:r>
            <a:r>
              <a:rPr lang="en-US" sz="4000" b="1" kern="1200" dirty="0">
                <a:solidFill>
                  <a:srgbClr val="FFFFFF"/>
                </a:solidFill>
                <a:latin typeface="+mj-lt"/>
                <a:ea typeface="+mj-ea"/>
                <a:cs typeface="+mj-cs"/>
              </a:rPr>
              <a:t> do </a:t>
            </a:r>
            <a:r>
              <a:rPr lang="en-US" sz="4000" b="1" kern="1200" dirty="0" err="1">
                <a:solidFill>
                  <a:srgbClr val="FFFFFF"/>
                </a:solidFill>
                <a:latin typeface="+mj-lt"/>
                <a:ea typeface="+mj-ea"/>
                <a:cs typeface="+mj-cs"/>
              </a:rPr>
              <a:t>objeto</a:t>
            </a:r>
            <a:endParaRPr lang="en-US" sz="4000" b="1" kern="1200" dirty="0">
              <a:solidFill>
                <a:srgbClr val="FFFFFF"/>
              </a:solidFill>
              <a:effectLst/>
              <a:latin typeface="+mj-lt"/>
              <a:ea typeface="+mj-ea"/>
              <a:cs typeface="+mj-cs"/>
            </a:endParaRPr>
          </a:p>
        </p:txBody>
      </p:sp>
      <p:sp>
        <p:nvSpPr>
          <p:cNvPr id="6" name="CaixaDeTexto 5">
            <a:extLst>
              <a:ext uri="{FF2B5EF4-FFF2-40B4-BE49-F238E27FC236}">
                <a16:creationId xmlns:a16="http://schemas.microsoft.com/office/drawing/2014/main" id="{8875FFAE-F933-A4AF-5681-9D3E5F9B823B}"/>
              </a:ext>
            </a:extLst>
          </p:cNvPr>
          <p:cNvSpPr txBox="1"/>
          <p:nvPr/>
        </p:nvSpPr>
        <p:spPr>
          <a:xfrm>
            <a:off x="912145" y="1622745"/>
            <a:ext cx="10367705" cy="4641221"/>
          </a:xfrm>
          <a:prstGeom prst="rect">
            <a:avLst/>
          </a:prstGeom>
        </p:spPr>
        <p:txBody>
          <a:bodyPr vert="horz" lIns="91440" tIns="45720" rIns="91440" bIns="45720" rtlCol="0" anchor="ctr">
            <a:normAutofit fontScale="77500" lnSpcReduction="20000"/>
          </a:bodyPr>
          <a:lstStyle/>
          <a:p>
            <a:pPr marL="114300" defTabSz="914400">
              <a:lnSpc>
                <a:spcPct val="90000"/>
              </a:lnSpc>
              <a:spcAft>
                <a:spcPts val="600"/>
              </a:spcAft>
            </a:pPr>
            <a:endParaRPr lang="pt-BR" sz="2000" dirty="0"/>
          </a:p>
          <a:p>
            <a:pPr marL="342900" indent="-228600" algn="just" defTabSz="914400">
              <a:lnSpc>
                <a:spcPct val="90000"/>
              </a:lnSpc>
              <a:spcAft>
                <a:spcPts val="600"/>
              </a:spcAft>
              <a:buFont typeface="Arial" panose="020B0604020202020204" pitchFamily="34" charset="0"/>
              <a:buChar char="•"/>
            </a:pPr>
            <a:r>
              <a:rPr lang="pt-BR" sz="2200" dirty="0"/>
              <a:t>Nossa pesquisa entende as </a:t>
            </a:r>
            <a:r>
              <a:rPr lang="pt-BR" sz="2200" dirty="0" err="1"/>
              <a:t>LLMs</a:t>
            </a:r>
            <a:r>
              <a:rPr lang="pt-BR" sz="2200" dirty="0"/>
              <a:t> como agentes de transformação da linguagem num contexto sócio-histórico em que caminhamos à uma naturalização do pensamento da máquina, e sua consequente retroalimentação em futuros treinamentos das </a:t>
            </a:r>
            <a:r>
              <a:rPr lang="pt-BR" sz="2200" dirty="0" err="1"/>
              <a:t>LLMs</a:t>
            </a:r>
            <a:r>
              <a:rPr lang="pt-BR" sz="2200" dirty="0"/>
              <a:t>. </a:t>
            </a:r>
          </a:p>
          <a:p>
            <a:pPr marL="342900" indent="-228600" algn="just" defTabSz="914400">
              <a:lnSpc>
                <a:spcPct val="90000"/>
              </a:lnSpc>
              <a:spcAft>
                <a:spcPts val="600"/>
              </a:spcAft>
              <a:buFont typeface="Arial" panose="020B0604020202020204" pitchFamily="34" charset="0"/>
              <a:buChar char="•"/>
            </a:pPr>
            <a:endParaRPr lang="pt-BR" sz="2200" dirty="0"/>
          </a:p>
          <a:p>
            <a:pPr marL="342900" indent="-228600" algn="just" defTabSz="914400">
              <a:lnSpc>
                <a:spcPct val="90000"/>
              </a:lnSpc>
              <a:spcAft>
                <a:spcPts val="600"/>
              </a:spcAft>
              <a:buFont typeface="Arial" panose="020B0604020202020204" pitchFamily="34" charset="0"/>
              <a:buChar char="•"/>
            </a:pPr>
            <a:r>
              <a:rPr lang="pt-BR" sz="2200" dirty="0"/>
              <a:t>Nossa pesquisa parte da premissa de que </a:t>
            </a:r>
            <a:r>
              <a:rPr lang="pt-BR" sz="2200" dirty="0" err="1"/>
              <a:t>LLMs</a:t>
            </a:r>
            <a:r>
              <a:rPr lang="pt-BR" sz="2200" dirty="0"/>
              <a:t> atuam como agentes capazes de influenciar e transformar práticas discursivas no contexto sócio-histórico atual, marcado pela crescente integração da inteligência artificial na vida cotidiana e consequente naturalização de seus discursos. Nesse cenário, os conteúdos produzidos por esses modelos podem alimentar e moldar o debate público, sendo fonte de informação para os atores sociais, inclusive sobre temas de grande relevância social, como as questões socioambientais. Considerando que a mudança climática se configura como um tema de interesse global e politicamente sensível, entendemos como relevante investigar como os discursos gerados por </a:t>
            </a:r>
            <a:r>
              <a:rPr lang="pt-BR" sz="2200" dirty="0" err="1"/>
              <a:t>LLMs</a:t>
            </a:r>
            <a:r>
              <a:rPr lang="pt-BR" sz="2200" dirty="0"/>
              <a:t>, desenvolvidos e disponibilizados por empresas privadas, participam da circulação de ideias, reforçam ou desafiam os diversos discursos humanos existentes.</a:t>
            </a:r>
          </a:p>
          <a:p>
            <a:pPr marL="342900" indent="-228600" algn="just" defTabSz="914400">
              <a:lnSpc>
                <a:spcPct val="90000"/>
              </a:lnSpc>
              <a:spcAft>
                <a:spcPts val="600"/>
              </a:spcAft>
              <a:buFont typeface="Arial" panose="020B0604020202020204" pitchFamily="34" charset="0"/>
              <a:buChar char="•"/>
            </a:pPr>
            <a:r>
              <a:rPr lang="pt-BR" sz="2200" b="1" dirty="0">
                <a:solidFill>
                  <a:srgbClr val="FF0000"/>
                </a:solidFill>
              </a:rPr>
              <a:t>E O QUE ISSO SIGNIFICA? E O POR QUE? QUAL O INTERESSE? DESCONSTRUIR, TRANSFORMAR UM OBJETO INTERESSANTE? MOSTRAR AS CONTRADIÇÕES DO OBJETO DE PESQUISA, ELE PARECE OBIO O OBJETO DE PESQUISA, MAS ENQUANTO PESQUISAR ENXERGAR ALEM DO OBJETO E MOSTRAR ESSAS CONTRADIÇÕES E NÃO É TRIVIAL, APONTAR AS CONTRADIÇÕES, PORQUÊ É INTERESSANTE, DESTRINXAR OBJETO E DE QUE FORMA É CONSTRUINDO INFLUENCIANDO, CERCAR OBJETO DE CONCEITOS E MOSTRA CONTRADIÇÕES. PROBLEMATIZAÇÃO É PARA APROXIMAR DOS OUTROS. VER O QUE O OBJETO É DE VERDADE. O QUE ISSO TRAZ DE CONHECIMENTO PARA O MUNDO</a:t>
            </a:r>
          </a:p>
        </p:txBody>
      </p:sp>
    </p:spTree>
    <p:extLst>
      <p:ext uri="{BB962C8B-B14F-4D97-AF65-F5344CB8AC3E}">
        <p14:creationId xmlns:p14="http://schemas.microsoft.com/office/powerpoint/2010/main" val="33289994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Google Shape;98;p1">
            <a:extLst>
              <a:ext uri="{FF2B5EF4-FFF2-40B4-BE49-F238E27FC236}">
                <a16:creationId xmlns:a16="http://schemas.microsoft.com/office/drawing/2014/main" id="{81D2ED08-8C13-DC97-960D-356F21C8A9B3}"/>
              </a:ext>
            </a:extLst>
          </p:cNvPr>
          <p:cNvSpPr txBox="1">
            <a:spLocks/>
          </p:cNvSpPr>
          <p:nvPr/>
        </p:nvSpPr>
        <p:spPr>
          <a:xfrm>
            <a:off x="1371599" y="294538"/>
            <a:ext cx="9895951" cy="1033669"/>
          </a:xfrm>
          <a:prstGeom prst="rect">
            <a:avLst/>
          </a:prstGeom>
        </p:spPr>
        <p:txBody>
          <a:bodyPr spcFirstLastPara="1"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baseline="0">
                <a:solidFill>
                  <a:schemeClr val="tx1"/>
                </a:solidFill>
                <a:latin typeface="Open Sans Light" panose="020B03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baseline="0">
                <a:solidFill>
                  <a:schemeClr val="tx1"/>
                </a:solidFill>
                <a:latin typeface="Open Sans Light" panose="020B03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baseline="0">
                <a:solidFill>
                  <a:schemeClr val="tx1"/>
                </a:solidFill>
                <a:latin typeface="Open Sans Light" panose="020B03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baseline="0">
                <a:solidFill>
                  <a:schemeClr val="tx1"/>
                </a:solidFill>
                <a:latin typeface="Open Sans Light" panose="020B03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baseline="0">
                <a:solidFill>
                  <a:schemeClr val="tx1"/>
                </a:solidFill>
                <a:latin typeface="Open Sans Light" panose="020B03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ts val="600"/>
              </a:spcAft>
              <a:buClr>
                <a:srgbClr val="5E5E5E"/>
              </a:buClr>
              <a:buSzPts val="3200"/>
              <a:buNone/>
            </a:pPr>
            <a:r>
              <a:rPr lang="en-US" sz="4000" b="1" kern="1200">
                <a:solidFill>
                  <a:srgbClr val="FFFFFF"/>
                </a:solidFill>
                <a:latin typeface="+mj-lt"/>
                <a:ea typeface="+mj-ea"/>
                <a:cs typeface="+mj-cs"/>
              </a:rPr>
              <a:t>Estado da arte</a:t>
            </a:r>
            <a:endParaRPr lang="en-US" sz="4000" b="1" kern="1200">
              <a:solidFill>
                <a:srgbClr val="FFFFFF"/>
              </a:solidFill>
              <a:effectLst/>
              <a:latin typeface="+mj-lt"/>
              <a:ea typeface="+mj-ea"/>
              <a:cs typeface="+mj-cs"/>
            </a:endParaRPr>
          </a:p>
        </p:txBody>
      </p:sp>
      <p:sp>
        <p:nvSpPr>
          <p:cNvPr id="2" name="CaixaDeTexto 1">
            <a:extLst>
              <a:ext uri="{FF2B5EF4-FFF2-40B4-BE49-F238E27FC236}">
                <a16:creationId xmlns:a16="http://schemas.microsoft.com/office/drawing/2014/main" id="{81F08E53-30C6-D77B-644F-DF3A82D8DCED}"/>
              </a:ext>
            </a:extLst>
          </p:cNvPr>
          <p:cNvSpPr txBox="1"/>
          <p:nvPr/>
        </p:nvSpPr>
        <p:spPr>
          <a:xfrm>
            <a:off x="614855" y="1717343"/>
            <a:ext cx="10783614" cy="4846119"/>
          </a:xfrm>
          <a:prstGeom prst="rect">
            <a:avLst/>
          </a:prstGeom>
        </p:spPr>
        <p:txBody>
          <a:bodyPr vert="horz" lIns="91440" tIns="45720" rIns="91440" bIns="45720" rtlCol="0" anchor="ctr">
            <a:noAutofit/>
          </a:bodyPr>
          <a:lstStyle/>
          <a:p>
            <a:pPr marL="342900" indent="-228600" algn="just" defTabSz="914400">
              <a:lnSpc>
                <a:spcPct val="90000"/>
              </a:lnSpc>
              <a:spcAft>
                <a:spcPts val="600"/>
              </a:spcAft>
              <a:buFont typeface="Arial" panose="020B0604020202020204" pitchFamily="34" charset="0"/>
              <a:buChar char="•"/>
            </a:pPr>
            <a:r>
              <a:rPr lang="pt-BR" sz="2000" dirty="0"/>
              <a:t>CONTEXTUALIZAÇÃO E INTRO A partir do século XIX, os discursos coloniais que retratavam a natureza como uma paisagem exótica foram gradualmente substituídos por uma visão centrada na preservação e no cuidado ambiental (Grove, 2021). Essa mudança foi motivada pela percepção de que a degradação causada pela expansão imperial colocava em risco os próprios interesses econômicos das novas metrópoles (Grove, 2021). No século XX, a ideia de “meio ambiente” como um bem planetário ganhou força, especialmente com as imagens da Terra obtidas nas missões espaciais (Sachs 2010). Estas imagens deram uma feição clara de finitude aos recursos naturais e à vida humana na Terra, suscitando a necessidade de formas diferentes de governança global (Sachs, 2010). </a:t>
            </a:r>
            <a:r>
              <a:rPr lang="pt-BR" sz="2000" dirty="0">
                <a:solidFill>
                  <a:srgbClr val="FF0000"/>
                </a:solidFill>
              </a:rPr>
              <a:t>BERRY (PAI DO MOVIMENTO ECOLOGISTA, 1971, THE CLOSING CIRCLE) reconhecer um movimento antigo que foi crescendo e modificando</a:t>
            </a:r>
            <a:r>
              <a:rPr lang="pt-BR" sz="2000" dirty="0"/>
              <a:t> Tradicionalmente a natureza é representada do ponto de vista da contemplação ou exploração (Grove, 2021). Com esse novo entendimento a natureza passou a ser vista como um bem comum que necessita de proteção e preservação (Sachs, 2010) desencadeando movimentos que ultrapassam barreiras nacionais visando ao novo conceito de sustentabilidade (Sachs, 2010).</a:t>
            </a:r>
          </a:p>
        </p:txBody>
      </p:sp>
    </p:spTree>
    <p:extLst>
      <p:ext uri="{BB962C8B-B14F-4D97-AF65-F5344CB8AC3E}">
        <p14:creationId xmlns:p14="http://schemas.microsoft.com/office/powerpoint/2010/main" val="16065595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BE6822D-97AD-8503-075E-6DAEC17A00E3}"/>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9E720D4-B764-C85B-9CC0-BAE862F67F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EA0E5E5-2383-341F-05FE-F899EC4C59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7C683B8-C4F4-36F8-9C35-B97EA95D67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E0CDBAC-E893-FF73-9F21-04FD79589E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3CBE8D0-9955-68F7-1239-6E0774B4C3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Google Shape;98;p1">
            <a:extLst>
              <a:ext uri="{FF2B5EF4-FFF2-40B4-BE49-F238E27FC236}">
                <a16:creationId xmlns:a16="http://schemas.microsoft.com/office/drawing/2014/main" id="{BA5C2EF8-FD67-3CDB-35A3-202E67C2B188}"/>
              </a:ext>
            </a:extLst>
          </p:cNvPr>
          <p:cNvSpPr txBox="1">
            <a:spLocks/>
          </p:cNvSpPr>
          <p:nvPr/>
        </p:nvSpPr>
        <p:spPr>
          <a:xfrm>
            <a:off x="1371599" y="294538"/>
            <a:ext cx="9895951" cy="1033669"/>
          </a:xfrm>
          <a:prstGeom prst="rect">
            <a:avLst/>
          </a:prstGeom>
        </p:spPr>
        <p:txBody>
          <a:bodyPr spcFirstLastPara="1"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baseline="0">
                <a:solidFill>
                  <a:schemeClr val="tx1"/>
                </a:solidFill>
                <a:latin typeface="Open Sans Light" panose="020B03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baseline="0">
                <a:solidFill>
                  <a:schemeClr val="tx1"/>
                </a:solidFill>
                <a:latin typeface="Open Sans Light" panose="020B03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baseline="0">
                <a:solidFill>
                  <a:schemeClr val="tx1"/>
                </a:solidFill>
                <a:latin typeface="Open Sans Light" panose="020B03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baseline="0">
                <a:solidFill>
                  <a:schemeClr val="tx1"/>
                </a:solidFill>
                <a:latin typeface="Open Sans Light" panose="020B03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baseline="0">
                <a:solidFill>
                  <a:schemeClr val="tx1"/>
                </a:solidFill>
                <a:latin typeface="Open Sans Light" panose="020B03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ts val="600"/>
              </a:spcAft>
              <a:buClr>
                <a:srgbClr val="5E5E5E"/>
              </a:buClr>
              <a:buSzPts val="3200"/>
              <a:buNone/>
            </a:pPr>
            <a:r>
              <a:rPr lang="en-US" sz="4000" b="1" kern="1200">
                <a:solidFill>
                  <a:srgbClr val="FFFFFF"/>
                </a:solidFill>
                <a:latin typeface="+mj-lt"/>
                <a:ea typeface="+mj-ea"/>
                <a:cs typeface="+mj-cs"/>
              </a:rPr>
              <a:t>Estado da arte</a:t>
            </a:r>
            <a:endParaRPr lang="en-US" sz="4000" b="1" kern="1200">
              <a:solidFill>
                <a:srgbClr val="FFFFFF"/>
              </a:solidFill>
              <a:effectLst/>
              <a:latin typeface="+mj-lt"/>
              <a:ea typeface="+mj-ea"/>
              <a:cs typeface="+mj-cs"/>
            </a:endParaRPr>
          </a:p>
        </p:txBody>
      </p:sp>
      <p:sp>
        <p:nvSpPr>
          <p:cNvPr id="2" name="CaixaDeTexto 1">
            <a:extLst>
              <a:ext uri="{FF2B5EF4-FFF2-40B4-BE49-F238E27FC236}">
                <a16:creationId xmlns:a16="http://schemas.microsoft.com/office/drawing/2014/main" id="{9AE59BD1-F582-6743-B840-0CCC76FCC32F}"/>
              </a:ext>
            </a:extLst>
          </p:cNvPr>
          <p:cNvSpPr txBox="1"/>
          <p:nvPr/>
        </p:nvSpPr>
        <p:spPr>
          <a:xfrm>
            <a:off x="614856" y="1717343"/>
            <a:ext cx="10783614" cy="4967236"/>
          </a:xfrm>
          <a:prstGeom prst="rect">
            <a:avLst/>
          </a:prstGeom>
        </p:spPr>
        <p:txBody>
          <a:bodyPr vert="horz" lIns="91440" tIns="45720" rIns="91440" bIns="45720" rtlCol="0" anchor="ctr">
            <a:noAutofit/>
          </a:bodyPr>
          <a:lstStyle/>
          <a:p>
            <a:pPr marL="342900" indent="-228600" algn="just" defTabSz="914400">
              <a:lnSpc>
                <a:spcPct val="90000"/>
              </a:lnSpc>
              <a:spcAft>
                <a:spcPts val="600"/>
              </a:spcAft>
              <a:buFont typeface="Arial" panose="020B0604020202020204" pitchFamily="34" charset="0"/>
              <a:buChar char="•"/>
            </a:pPr>
            <a:r>
              <a:rPr lang="pt-BR" sz="2000" dirty="0"/>
              <a:t>A sustentabilidade passou a ser ligada à necessidade de urgência e de inevitabilidade, transformando-se em uma questão moral e ética (</a:t>
            </a:r>
            <a:r>
              <a:rPr lang="pt-BR" sz="2000" dirty="0" err="1"/>
              <a:t>Doulton</a:t>
            </a:r>
            <a:r>
              <a:rPr lang="pt-BR" sz="2000" dirty="0"/>
              <a:t> &amp; Brown, 2008). Essa premissa moral deu lugar à criação de organismos transnacionais como ONGs, que possuem discursos especializados nessas representações (</a:t>
            </a:r>
            <a:r>
              <a:rPr lang="pt-BR" sz="2000" dirty="0" err="1"/>
              <a:t>Doulton</a:t>
            </a:r>
            <a:r>
              <a:rPr lang="pt-BR" sz="2000" dirty="0"/>
              <a:t> &amp; Brown, 2008).  A fim de descrever a situação climática de um ponto de vista moral, utiliza-se metáforas (</a:t>
            </a:r>
            <a:r>
              <a:rPr lang="pt-BR" sz="2000" dirty="0" err="1"/>
              <a:t>Flusberg</a:t>
            </a:r>
            <a:r>
              <a:rPr lang="pt-BR" sz="2000" dirty="0"/>
              <a:t>, </a:t>
            </a:r>
            <a:r>
              <a:rPr lang="pt-BR" sz="2000" dirty="0" err="1"/>
              <a:t>Matlock</a:t>
            </a:r>
            <a:r>
              <a:rPr lang="pt-BR" sz="2000" dirty="0"/>
              <a:t> &amp; </a:t>
            </a:r>
            <a:r>
              <a:rPr lang="pt-BR" sz="2000" dirty="0" err="1"/>
              <a:t>Thibodeau</a:t>
            </a:r>
            <a:r>
              <a:rPr lang="pt-BR" sz="2000" dirty="0"/>
              <a:t>, 2017). </a:t>
            </a:r>
            <a:r>
              <a:rPr lang="pt-BR" sz="2000" dirty="0">
                <a:solidFill>
                  <a:srgbClr val="FF0000"/>
                </a:solidFill>
              </a:rPr>
              <a:t>ESTADO DA ARTE A PARTIR DAQUI PORQUE TEM LINGUGAGEM </a:t>
            </a:r>
            <a:r>
              <a:rPr lang="pt-BR" sz="2000" dirty="0"/>
              <a:t>Metáforas como “guerra” e “corrida contra o tempo” passaram a ser usadas nas mídias , para caracterizar a mudança climática como uma ameaça urgente e uma causa justa, com o objetivo de mobilizar apoio popular e político (</a:t>
            </a:r>
            <a:r>
              <a:rPr lang="pt-BR" sz="2000" dirty="0" err="1"/>
              <a:t>Flusberg</a:t>
            </a:r>
            <a:r>
              <a:rPr lang="pt-BR" sz="2000" dirty="0"/>
              <a:t>, </a:t>
            </a:r>
            <a:r>
              <a:rPr lang="pt-BR" sz="2000" dirty="0" err="1"/>
              <a:t>Matlock</a:t>
            </a:r>
            <a:r>
              <a:rPr lang="pt-BR" sz="2000" dirty="0"/>
              <a:t> &amp; </a:t>
            </a:r>
            <a:r>
              <a:rPr lang="pt-BR" sz="2000" dirty="0" err="1"/>
              <a:t>Thibodeau</a:t>
            </a:r>
            <a:r>
              <a:rPr lang="pt-BR" sz="2000" dirty="0"/>
              <a:t>, 2017). Se por um lado contribuíram para aumentar a percepção de gravidade, limitaram a visão sobre as causas estruturais e sociais na crise climática (</a:t>
            </a:r>
            <a:r>
              <a:rPr lang="pt-BR" sz="2000" dirty="0" err="1"/>
              <a:t>Flusberg</a:t>
            </a:r>
            <a:r>
              <a:rPr lang="pt-BR" sz="2000" dirty="0"/>
              <a:t>, </a:t>
            </a:r>
            <a:r>
              <a:rPr lang="pt-BR" sz="2000" dirty="0" err="1"/>
              <a:t>Matlock</a:t>
            </a:r>
            <a:r>
              <a:rPr lang="pt-BR" sz="2000" dirty="0"/>
              <a:t> &amp; </a:t>
            </a:r>
            <a:r>
              <a:rPr lang="pt-BR" sz="2000" dirty="0" err="1"/>
              <a:t>Thibodeau</a:t>
            </a:r>
            <a:r>
              <a:rPr lang="pt-BR" sz="2000" dirty="0"/>
              <a:t>, 2017 Esse discurso moral e </a:t>
            </a:r>
            <a:r>
              <a:rPr lang="pt-BR" sz="2000" dirty="0" err="1"/>
              <a:t>urgentista</a:t>
            </a:r>
            <a:r>
              <a:rPr lang="pt-BR" sz="2000" dirty="0"/>
              <a:t> / milenarista é posto em circulação </a:t>
            </a:r>
            <a:r>
              <a:rPr lang="pt-BR" sz="2000" dirty="0" err="1"/>
              <a:t>pelaa</a:t>
            </a:r>
            <a:r>
              <a:rPr lang="pt-BR" sz="2000" dirty="0"/>
              <a:t>  ONGs ambientais (Vu et al., 2020). Essa iminência é refletida na substituição gradual do termo “mudança climática” por expressões como “crise climática” e “emergência climática”,  (</a:t>
            </a:r>
            <a:r>
              <a:rPr lang="pt-BR" sz="2000" dirty="0" err="1"/>
              <a:t>Maipas</a:t>
            </a:r>
            <a:r>
              <a:rPr lang="pt-BR" sz="2000" dirty="0"/>
              <a:t> &amp; </a:t>
            </a:r>
            <a:r>
              <a:rPr lang="pt-BR" sz="2000" dirty="0" err="1"/>
              <a:t>Kavantzas</a:t>
            </a:r>
            <a:r>
              <a:rPr lang="pt-BR" sz="2000" dirty="0"/>
              <a:t>, 2024; </a:t>
            </a:r>
            <a:r>
              <a:rPr lang="pt-BR" sz="2000" dirty="0" err="1"/>
              <a:t>Stibbe</a:t>
            </a:r>
            <a:r>
              <a:rPr lang="pt-BR" sz="2000" dirty="0"/>
              <a:t>, 2024). Por outro lado , o discurso moral é milenarista pode levar à “fadiga emocional” e à dessensibilização, dificultando o engajamento efetivo da população (</a:t>
            </a:r>
            <a:r>
              <a:rPr lang="pt-BR" sz="2000" dirty="0" err="1"/>
              <a:t>Nerlich</a:t>
            </a:r>
            <a:r>
              <a:rPr lang="pt-BR" sz="2000" dirty="0"/>
              <a:t>, </a:t>
            </a:r>
            <a:r>
              <a:rPr lang="pt-BR" sz="2000" dirty="0" err="1"/>
              <a:t>Koteyko</a:t>
            </a:r>
            <a:r>
              <a:rPr lang="pt-BR" sz="2000" dirty="0"/>
              <a:t> &amp; Brown, 2010). </a:t>
            </a:r>
            <a:r>
              <a:rPr lang="pt-BR" sz="2000" dirty="0">
                <a:solidFill>
                  <a:srgbClr val="FF0000"/>
                </a:solidFill>
              </a:rPr>
              <a:t>NÃO EXITE UNANIMIDADE EXISTEM VARIAS EXPLICAÇÕES PARA A FAÇTA DE UNINIMIDADE E UMA DELAS É ESSA, CANSAÇO, FATALISMO, MUITA PRESENÃ DE UM DETERMINADO DISCURSO. POR QUE EXISTE, POQEU TEM UM FINANCIAMENTO POR TRÁS ACABA EXAURINAOD E SURGE REAÇÃO QUDE GRUPOS QUE VÃO REAGIR E SE OPOR E DESCREDIBIUILIZAR. E TAMBÉM PORQUE AS PESSOAS QUE VAO BUSCAR IFOS PERCEBEM AGENDA POR TRÁS QUE NÃO TEM A VER COM MELLHORIA DAS CONDIÇÕES DO PLANETA É SÓ UM DESCULPA (ARTIGOS QUE O TONY ENVIOU NO DROPBOX) o IMPERIALISMO CRIOU SISTEMA DE FINANACIAMENTO DESSAS ONGS PARA CONSEGUIR O QUE QUEREM DENTRO DOS PAISE DO MUNDO</a:t>
            </a:r>
          </a:p>
          <a:p>
            <a:pPr marL="342900" indent="-228600" algn="just" defTabSz="914400">
              <a:lnSpc>
                <a:spcPct val="90000"/>
              </a:lnSpc>
              <a:spcAft>
                <a:spcPts val="600"/>
              </a:spcAft>
              <a:buFont typeface="Arial" panose="020B0604020202020204" pitchFamily="34" charset="0"/>
              <a:buChar char="•"/>
            </a:pPr>
            <a:endParaRPr lang="pt-BR" sz="2000" dirty="0"/>
          </a:p>
        </p:txBody>
      </p:sp>
    </p:spTree>
    <p:extLst>
      <p:ext uri="{BB962C8B-B14F-4D97-AF65-F5344CB8AC3E}">
        <p14:creationId xmlns:p14="http://schemas.microsoft.com/office/powerpoint/2010/main" val="15871331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93F1386-D687-2CEB-A2E4-635B090121EC}"/>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878572E-B837-CDBD-B81C-9F844E501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7F7F410-E5B9-56E6-2AC2-515A9C77C7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65A219F-1823-DBE2-F637-8DEC1A7AB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07E6DF2-497F-2BD3-930E-EE551F1BA1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82FF55D-1A0F-5A13-FF80-2C8F32CC3E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Google Shape;98;p1">
            <a:extLst>
              <a:ext uri="{FF2B5EF4-FFF2-40B4-BE49-F238E27FC236}">
                <a16:creationId xmlns:a16="http://schemas.microsoft.com/office/drawing/2014/main" id="{A0D513EC-3897-4921-45EE-4E4002B4FF27}"/>
              </a:ext>
            </a:extLst>
          </p:cNvPr>
          <p:cNvSpPr txBox="1">
            <a:spLocks/>
          </p:cNvSpPr>
          <p:nvPr/>
        </p:nvSpPr>
        <p:spPr>
          <a:xfrm>
            <a:off x="1371599" y="294538"/>
            <a:ext cx="9895951" cy="1033669"/>
          </a:xfrm>
          <a:prstGeom prst="rect">
            <a:avLst/>
          </a:prstGeom>
        </p:spPr>
        <p:txBody>
          <a:bodyPr spcFirstLastPara="1"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baseline="0">
                <a:solidFill>
                  <a:schemeClr val="tx1"/>
                </a:solidFill>
                <a:latin typeface="Open Sans Light" panose="020B03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baseline="0">
                <a:solidFill>
                  <a:schemeClr val="tx1"/>
                </a:solidFill>
                <a:latin typeface="Open Sans Light" panose="020B03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baseline="0">
                <a:solidFill>
                  <a:schemeClr val="tx1"/>
                </a:solidFill>
                <a:latin typeface="Open Sans Light" panose="020B03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baseline="0">
                <a:solidFill>
                  <a:schemeClr val="tx1"/>
                </a:solidFill>
                <a:latin typeface="Open Sans Light" panose="020B03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baseline="0">
                <a:solidFill>
                  <a:schemeClr val="tx1"/>
                </a:solidFill>
                <a:latin typeface="Open Sans Light" panose="020B03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ts val="600"/>
              </a:spcAft>
              <a:buClr>
                <a:srgbClr val="5E5E5E"/>
              </a:buClr>
              <a:buSzPts val="3200"/>
              <a:buNone/>
            </a:pPr>
            <a:r>
              <a:rPr lang="en-US" sz="4000" b="1" kern="1200">
                <a:solidFill>
                  <a:srgbClr val="FFFFFF"/>
                </a:solidFill>
                <a:latin typeface="+mj-lt"/>
                <a:ea typeface="+mj-ea"/>
                <a:cs typeface="+mj-cs"/>
              </a:rPr>
              <a:t>Estado da arte</a:t>
            </a:r>
            <a:endParaRPr lang="en-US" sz="4000" b="1" kern="1200">
              <a:solidFill>
                <a:srgbClr val="FFFFFF"/>
              </a:solidFill>
              <a:effectLst/>
              <a:latin typeface="+mj-lt"/>
              <a:ea typeface="+mj-ea"/>
              <a:cs typeface="+mj-cs"/>
            </a:endParaRPr>
          </a:p>
        </p:txBody>
      </p:sp>
      <p:sp>
        <p:nvSpPr>
          <p:cNvPr id="3" name="CaixaDeTexto 2">
            <a:extLst>
              <a:ext uri="{FF2B5EF4-FFF2-40B4-BE49-F238E27FC236}">
                <a16:creationId xmlns:a16="http://schemas.microsoft.com/office/drawing/2014/main" id="{991E6DB9-A6C6-8205-B440-CB983AFEA43E}"/>
              </a:ext>
            </a:extLst>
          </p:cNvPr>
          <p:cNvSpPr txBox="1"/>
          <p:nvPr/>
        </p:nvSpPr>
        <p:spPr>
          <a:xfrm>
            <a:off x="709448" y="1663469"/>
            <a:ext cx="10846676" cy="4899993"/>
          </a:xfrm>
          <a:prstGeom prst="rect">
            <a:avLst/>
          </a:prstGeom>
        </p:spPr>
        <p:txBody>
          <a:bodyPr vert="horz" lIns="91440" tIns="45720" rIns="91440" bIns="45720" rtlCol="0" anchor="ctr">
            <a:normAutofit/>
          </a:bodyPr>
          <a:lstStyle/>
          <a:p>
            <a:pPr marL="114300" defTabSz="914400">
              <a:lnSpc>
                <a:spcPct val="90000"/>
              </a:lnSpc>
              <a:spcAft>
                <a:spcPts val="600"/>
              </a:spcAft>
            </a:pPr>
            <a:endParaRPr lang="pt-BR" dirty="0"/>
          </a:p>
          <a:p>
            <a:pPr marL="342900" indent="-228600" algn="just" defTabSz="914400">
              <a:lnSpc>
                <a:spcPct val="90000"/>
              </a:lnSpc>
              <a:spcAft>
                <a:spcPts val="600"/>
              </a:spcAft>
              <a:buFont typeface="Arial" panose="020B0604020202020204" pitchFamily="34" charset="0"/>
              <a:buChar char="•"/>
            </a:pPr>
            <a:r>
              <a:rPr lang="pt-BR" sz="2000" dirty="0"/>
              <a:t>A disseminação de discursos atenuantes e negacionistas sobre a mudança climática contribui para a inação política e o enfraquecimento das políticas ambientais (Clarke, 2024). O discurso contrário emprega argumentos baseados em incerteza, ironia ou confiança na resiliência natural do planeta (</a:t>
            </a:r>
            <a:r>
              <a:rPr lang="pt-BR" sz="2000" dirty="0" err="1"/>
              <a:t>Nerlich</a:t>
            </a:r>
            <a:r>
              <a:rPr lang="pt-BR" sz="2000" dirty="0"/>
              <a:t>, </a:t>
            </a:r>
            <a:r>
              <a:rPr lang="pt-BR" sz="2000" dirty="0" err="1"/>
              <a:t>Koteyko</a:t>
            </a:r>
            <a:r>
              <a:rPr lang="pt-BR" sz="2000" dirty="0"/>
              <a:t> &amp; Brown, 2010). Essa vertente trata o aquecimento global como hipótese controversa em vez de realidade consolidada (Clarke, 2024). </a:t>
            </a:r>
          </a:p>
          <a:p>
            <a:pPr marL="342900" indent="-228600" algn="just" defTabSz="914400">
              <a:lnSpc>
                <a:spcPct val="90000"/>
              </a:lnSpc>
              <a:spcAft>
                <a:spcPts val="600"/>
              </a:spcAft>
              <a:buFont typeface="Arial" panose="020B0604020202020204" pitchFamily="34" charset="0"/>
              <a:buChar char="•"/>
            </a:pPr>
            <a:endParaRPr lang="pt-BR" sz="2000" dirty="0"/>
          </a:p>
          <a:p>
            <a:pPr marL="342900" indent="-228600" algn="just" defTabSz="914400">
              <a:lnSpc>
                <a:spcPct val="90000"/>
              </a:lnSpc>
              <a:spcAft>
                <a:spcPts val="600"/>
              </a:spcAft>
              <a:buFont typeface="Arial" panose="020B0604020202020204" pitchFamily="34" charset="0"/>
              <a:buChar char="•"/>
            </a:pPr>
            <a:r>
              <a:rPr lang="pt-BR" sz="2000" dirty="0"/>
              <a:t>As redes sociais , que são espaços </a:t>
            </a:r>
            <a:r>
              <a:rPr lang="pt-BR" sz="2000" dirty="0" err="1"/>
              <a:t>democraticos</a:t>
            </a:r>
            <a:r>
              <a:rPr lang="pt-BR" sz="2000" dirty="0"/>
              <a:t> de produção simbólica, sofrem críticas por serem alegadamente espaços para manipulação da informação (Bitencourt, Amorim &amp; Amorim, 2021; </a:t>
            </a:r>
            <a:r>
              <a:rPr lang="pt-BR" sz="2000" dirty="0" err="1"/>
              <a:t>Swaffield</a:t>
            </a:r>
            <a:r>
              <a:rPr lang="pt-BR" sz="2000" dirty="0"/>
              <a:t> &amp; Dempsey, 2022). Nesse ambiente, tanto discursos alarmistas quanto negacionistas ganham visibilidade (Bitencourt, Amorim &amp; Amorim, 2021; </a:t>
            </a:r>
            <a:r>
              <a:rPr lang="pt-BR" sz="2000" dirty="0" err="1"/>
              <a:t>Berber</a:t>
            </a:r>
            <a:r>
              <a:rPr lang="pt-BR" sz="2000" dirty="0"/>
              <a:t> Sardinha, 2024).</a:t>
            </a:r>
          </a:p>
          <a:p>
            <a:pPr marL="342900" indent="-228600" defTabSz="914400">
              <a:lnSpc>
                <a:spcPct val="90000"/>
              </a:lnSpc>
              <a:spcAft>
                <a:spcPts val="600"/>
              </a:spcAft>
              <a:buFont typeface="Arial" panose="020B0604020202020204" pitchFamily="34" charset="0"/>
              <a:buChar char="•"/>
            </a:pPr>
            <a:endParaRPr lang="pt-BR" sz="2000" dirty="0"/>
          </a:p>
        </p:txBody>
      </p:sp>
    </p:spTree>
    <p:extLst>
      <p:ext uri="{BB962C8B-B14F-4D97-AF65-F5344CB8AC3E}">
        <p14:creationId xmlns:p14="http://schemas.microsoft.com/office/powerpoint/2010/main" val="12801514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75648FE-5A03-5EEB-9B97-0D0792A2C7DF}"/>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B62C7A1-E36F-62F5-F531-405C6C4FB1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876B0FC-68A1-8B33-7606-4284FBDC0B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1BACB15-8734-5EE9-4483-B3E26457FD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E903D2D-74C1-1BC3-11D3-0F1E00ADD1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5F3FFEB-BBB4-4139-9068-92FCCE0C00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Google Shape;98;p1">
            <a:extLst>
              <a:ext uri="{FF2B5EF4-FFF2-40B4-BE49-F238E27FC236}">
                <a16:creationId xmlns:a16="http://schemas.microsoft.com/office/drawing/2014/main" id="{BFAA61D0-1A61-5662-DCF3-ACE249C9E7A2}"/>
              </a:ext>
            </a:extLst>
          </p:cNvPr>
          <p:cNvSpPr txBox="1">
            <a:spLocks/>
          </p:cNvSpPr>
          <p:nvPr/>
        </p:nvSpPr>
        <p:spPr>
          <a:xfrm>
            <a:off x="1371599" y="294538"/>
            <a:ext cx="9895951" cy="1033669"/>
          </a:xfrm>
          <a:prstGeom prst="rect">
            <a:avLst/>
          </a:prstGeom>
        </p:spPr>
        <p:txBody>
          <a:bodyPr spcFirstLastPara="1"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baseline="0">
                <a:solidFill>
                  <a:schemeClr val="tx1"/>
                </a:solidFill>
                <a:latin typeface="Open Sans Light" panose="020B03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baseline="0">
                <a:solidFill>
                  <a:schemeClr val="tx1"/>
                </a:solidFill>
                <a:latin typeface="Open Sans Light" panose="020B03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baseline="0">
                <a:solidFill>
                  <a:schemeClr val="tx1"/>
                </a:solidFill>
                <a:latin typeface="Open Sans Light" panose="020B03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baseline="0">
                <a:solidFill>
                  <a:schemeClr val="tx1"/>
                </a:solidFill>
                <a:latin typeface="Open Sans Light" panose="020B03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baseline="0">
                <a:solidFill>
                  <a:schemeClr val="tx1"/>
                </a:solidFill>
                <a:latin typeface="Open Sans Light" panose="020B03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ts val="600"/>
              </a:spcAft>
              <a:buClr>
                <a:srgbClr val="5E5E5E"/>
              </a:buClr>
              <a:buSzPts val="3200"/>
              <a:buNone/>
            </a:pPr>
            <a:r>
              <a:rPr lang="en-US" sz="4000" b="1" kern="1200">
                <a:solidFill>
                  <a:srgbClr val="FFFFFF"/>
                </a:solidFill>
                <a:latin typeface="+mj-lt"/>
                <a:ea typeface="+mj-ea"/>
                <a:cs typeface="+mj-cs"/>
              </a:rPr>
              <a:t>Estado da arte</a:t>
            </a:r>
            <a:endParaRPr lang="en-US" sz="4000" b="1" kern="1200">
              <a:solidFill>
                <a:srgbClr val="FFFFFF"/>
              </a:solidFill>
              <a:effectLst/>
              <a:latin typeface="+mj-lt"/>
              <a:ea typeface="+mj-ea"/>
              <a:cs typeface="+mj-cs"/>
            </a:endParaRPr>
          </a:p>
        </p:txBody>
      </p:sp>
      <p:sp>
        <p:nvSpPr>
          <p:cNvPr id="3" name="CaixaDeTexto 2">
            <a:extLst>
              <a:ext uri="{FF2B5EF4-FFF2-40B4-BE49-F238E27FC236}">
                <a16:creationId xmlns:a16="http://schemas.microsoft.com/office/drawing/2014/main" id="{2C8D3C0B-A64A-13AC-AD85-4D868314784B}"/>
              </a:ext>
            </a:extLst>
          </p:cNvPr>
          <p:cNvSpPr txBox="1"/>
          <p:nvPr/>
        </p:nvSpPr>
        <p:spPr>
          <a:xfrm>
            <a:off x="837722" y="1891970"/>
            <a:ext cx="10229671" cy="4272347"/>
          </a:xfrm>
          <a:prstGeom prst="rect">
            <a:avLst/>
          </a:prstGeom>
        </p:spPr>
        <p:txBody>
          <a:bodyPr vert="horz" lIns="91440" tIns="45720" rIns="91440" bIns="45720" rtlCol="0" anchor="ctr">
            <a:normAutofit fontScale="92500" lnSpcReduction="20000"/>
          </a:bodyPr>
          <a:lstStyle/>
          <a:p>
            <a:pPr marL="342900" indent="-228600" algn="just" defTabSz="914400">
              <a:lnSpc>
                <a:spcPct val="90000"/>
              </a:lnSpc>
              <a:spcAft>
                <a:spcPts val="600"/>
              </a:spcAft>
              <a:buFont typeface="Arial" panose="020B0604020202020204" pitchFamily="34" charset="0"/>
              <a:buChar char="•"/>
            </a:pPr>
            <a:r>
              <a:rPr lang="pt-BR" sz="2000" dirty="0"/>
              <a:t>A inteligência artificial tem desempenhado um papel ainda desconhecido  nos discursos sobre mudanças climáticas. alguns a consideram instrumentos de divulgação de desinformação climática (e.g. </a:t>
            </a:r>
            <a:r>
              <a:rPr lang="pt-BR" sz="2000" dirty="0" err="1"/>
              <a:t>Allaham</a:t>
            </a:r>
            <a:r>
              <a:rPr lang="pt-BR" sz="2000" dirty="0"/>
              <a:t> et al., 2025; </a:t>
            </a:r>
            <a:r>
              <a:rPr lang="pt-BR" sz="2000" dirty="0" err="1"/>
              <a:t>Zanartu</a:t>
            </a:r>
            <a:r>
              <a:rPr lang="pt-BR" sz="2000" dirty="0"/>
              <a:t> et al., 2024). A inteligência artificial é vista como reprodutora de  discursos dominantes sobre a mudança climática, (Sommer &amp; von </a:t>
            </a:r>
            <a:r>
              <a:rPr lang="pt-BR" sz="2000" dirty="0" err="1"/>
              <a:t>Querfurth</a:t>
            </a:r>
            <a:r>
              <a:rPr lang="pt-BR" sz="2000" dirty="0"/>
              <a:t>, 2024). Histórias geradas por IA tendem a apresentar trajetórias otimistas e resoluções simples, com foco em superação e colaboração, omitindo temas centrais como justiça climática e responsabilidade histórica (Sommer &amp; von </a:t>
            </a:r>
            <a:r>
              <a:rPr lang="pt-BR" sz="2000" dirty="0" err="1"/>
              <a:t>Querfurth</a:t>
            </a:r>
            <a:r>
              <a:rPr lang="pt-BR" sz="2000" dirty="0"/>
              <a:t>, 2024).</a:t>
            </a:r>
            <a:r>
              <a:rPr lang="pt-BR" sz="2000" dirty="0">
                <a:solidFill>
                  <a:srgbClr val="FF0000"/>
                </a:solidFill>
              </a:rPr>
              <a:t> Como instrumento de análise -  texto discursos identificar discursos sobre o clima </a:t>
            </a:r>
            <a:r>
              <a:rPr lang="pt-BR" sz="2000" dirty="0"/>
              <a:t>AÍ NÃO PORQUE É AI COMO INSTRUMENTO DE ANÁLISE Em contrapartida, outras aplicações de IA têm buscado intervir de modo crítico no debate ambiental, </a:t>
            </a:r>
            <a:r>
              <a:rPr lang="pt-BR" sz="2000" dirty="0">
                <a:solidFill>
                  <a:srgbClr val="FF0000"/>
                </a:solidFill>
              </a:rPr>
              <a:t>como ferramentas voltadas ao mapeamento de relações causais em textos climáticos (causa e efeito) e à classificação de afirmações com base na confiança de especialistas (</a:t>
            </a:r>
            <a:r>
              <a:rPr lang="pt-BR" sz="2000" dirty="0" err="1">
                <a:solidFill>
                  <a:srgbClr val="FF0000"/>
                </a:solidFill>
              </a:rPr>
              <a:t>Sakaji</a:t>
            </a:r>
            <a:r>
              <a:rPr lang="pt-BR" sz="2000" dirty="0">
                <a:solidFill>
                  <a:srgbClr val="FF0000"/>
                </a:solidFill>
              </a:rPr>
              <a:t> &amp; </a:t>
            </a:r>
            <a:r>
              <a:rPr lang="pt-BR" sz="2000" dirty="0" err="1">
                <a:solidFill>
                  <a:srgbClr val="FF0000"/>
                </a:solidFill>
              </a:rPr>
              <a:t>Kaneda</a:t>
            </a:r>
            <a:r>
              <a:rPr lang="pt-BR" sz="2000" dirty="0">
                <a:solidFill>
                  <a:srgbClr val="FF0000"/>
                </a:solidFill>
              </a:rPr>
              <a:t>, 2024; Lacombe et al., 2024). OS ESTUDOS AQUI E LEVANTAR A QUESTÃO NO ESTADO DA ARTE.  AI APLICADA EM AMBIENTES PROFISSIONAIS, REDAÇÃO JORNALISTICA PARA VEÍCULOS DIVERSOS INCLUSIVE DE REDAÇÃO DE BLOGS, AGENCIAS DE NOTÍCIA, OS DICSCURSOS QUE AL TEM PENETRAM NA SOCIEDADE E NÃO SÓ NO CHAT INDIVIDUAL ESPACA E ENTRE EM CIRCULAÇÃO. A MEDIDA QUE A PESSOA FIQUE COM </a:t>
            </a:r>
            <a:r>
              <a:rPr lang="pt-BR" sz="2000" dirty="0" err="1">
                <a:solidFill>
                  <a:srgbClr val="FF0000"/>
                </a:solidFill>
              </a:rPr>
              <a:t>llmS</a:t>
            </a:r>
            <a:r>
              <a:rPr lang="pt-BR" sz="2000" dirty="0">
                <a:solidFill>
                  <a:srgbClr val="FF0000"/>
                </a:solidFill>
              </a:rPr>
              <a:t> SOZINHA –ESTUDOS QUE MOSTRAM QUE PESSOAS SE INFLUENCIAM SÓ PERANTE A MAQUNINA ETSÃO AÍ PARA INFLUENCIATT ATPE QUE PODEM INFLUENCIAR O DEA=BATE´´´UBLICO SOBRE O MEIO AMBIENTE</a:t>
            </a:r>
          </a:p>
        </p:txBody>
      </p:sp>
    </p:spTree>
    <p:extLst>
      <p:ext uri="{BB962C8B-B14F-4D97-AF65-F5344CB8AC3E}">
        <p14:creationId xmlns:p14="http://schemas.microsoft.com/office/powerpoint/2010/main" val="3244191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A0F972E-A8E3-090A-6FAA-A2C7E199E1A6}"/>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0F1C146-3EE6-72E3-1BBE-9E65A0A70A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40795E1-7D52-1CD8-9876-A9FAF7849B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D2B5DA3-F21D-E578-34DD-779C37440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D7AAAA7-A3A2-D94B-F179-09CE0CE25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1DFE78B-F6A6-5CDD-9B13-D5B2FC5161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Google Shape;98;p1">
            <a:extLst>
              <a:ext uri="{FF2B5EF4-FFF2-40B4-BE49-F238E27FC236}">
                <a16:creationId xmlns:a16="http://schemas.microsoft.com/office/drawing/2014/main" id="{E5132933-5AC0-FE88-AFAD-FAA6F2DD71F1}"/>
              </a:ext>
            </a:extLst>
          </p:cNvPr>
          <p:cNvSpPr txBox="1">
            <a:spLocks/>
          </p:cNvSpPr>
          <p:nvPr/>
        </p:nvSpPr>
        <p:spPr>
          <a:xfrm>
            <a:off x="1371599" y="294538"/>
            <a:ext cx="9895951" cy="1033669"/>
          </a:xfrm>
          <a:prstGeom prst="rect">
            <a:avLst/>
          </a:prstGeom>
        </p:spPr>
        <p:txBody>
          <a:bodyPr spcFirstLastPara="1"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baseline="0">
                <a:solidFill>
                  <a:schemeClr val="tx1"/>
                </a:solidFill>
                <a:latin typeface="Open Sans Light" panose="020B03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baseline="0">
                <a:solidFill>
                  <a:schemeClr val="tx1"/>
                </a:solidFill>
                <a:latin typeface="Open Sans Light" panose="020B03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baseline="0">
                <a:solidFill>
                  <a:schemeClr val="tx1"/>
                </a:solidFill>
                <a:latin typeface="Open Sans Light" panose="020B03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baseline="0">
                <a:solidFill>
                  <a:schemeClr val="tx1"/>
                </a:solidFill>
                <a:latin typeface="Open Sans Light" panose="020B03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baseline="0">
                <a:solidFill>
                  <a:schemeClr val="tx1"/>
                </a:solidFill>
                <a:latin typeface="Open Sans Light" panose="020B03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ts val="600"/>
              </a:spcAft>
              <a:buClr>
                <a:srgbClr val="5E5E5E"/>
              </a:buClr>
              <a:buSzPts val="3200"/>
              <a:buNone/>
            </a:pPr>
            <a:r>
              <a:rPr lang="en-US" sz="4000" b="1" kern="1200" dirty="0">
                <a:solidFill>
                  <a:srgbClr val="FFFFFF"/>
                </a:solidFill>
                <a:latin typeface="+mj-lt"/>
                <a:ea typeface="+mj-ea"/>
                <a:cs typeface="+mj-cs"/>
              </a:rPr>
              <a:t>Lacuna</a:t>
            </a:r>
            <a:endParaRPr lang="en-US" sz="4000" b="1" kern="1200" dirty="0">
              <a:solidFill>
                <a:srgbClr val="FFFFFF"/>
              </a:solidFill>
              <a:effectLst/>
              <a:latin typeface="+mj-lt"/>
              <a:ea typeface="+mj-ea"/>
              <a:cs typeface="+mj-cs"/>
            </a:endParaRPr>
          </a:p>
        </p:txBody>
      </p:sp>
      <p:sp>
        <p:nvSpPr>
          <p:cNvPr id="3" name="CaixaDeTexto 2">
            <a:extLst>
              <a:ext uri="{FF2B5EF4-FFF2-40B4-BE49-F238E27FC236}">
                <a16:creationId xmlns:a16="http://schemas.microsoft.com/office/drawing/2014/main" id="{26E43087-D7C8-8B44-B92C-0D2EAE2589A6}"/>
              </a:ext>
            </a:extLst>
          </p:cNvPr>
          <p:cNvSpPr txBox="1"/>
          <p:nvPr/>
        </p:nvSpPr>
        <p:spPr>
          <a:xfrm>
            <a:off x="837722" y="1844672"/>
            <a:ext cx="10229671" cy="4272347"/>
          </a:xfrm>
          <a:prstGeom prst="rect">
            <a:avLst/>
          </a:prstGeom>
        </p:spPr>
        <p:txBody>
          <a:bodyPr vert="horz" lIns="91440" tIns="45720" rIns="91440" bIns="45720" rtlCol="0" anchor="ctr">
            <a:normAutofit fontScale="85000" lnSpcReduction="20000"/>
          </a:bodyPr>
          <a:lstStyle/>
          <a:p>
            <a:pPr marL="342900" indent="-342900">
              <a:buFont typeface="Arial" panose="020B0604020202020204" pitchFamily="34" charset="0"/>
              <a:buChar char="•"/>
            </a:pPr>
            <a:r>
              <a:rPr lang="pt-BR" sz="2200" dirty="0">
                <a:solidFill>
                  <a:srgbClr val="FF0000"/>
                </a:solidFill>
              </a:rPr>
              <a:t>PRECISA PRIMEIRO FALAR QUE LLMS TEM DISCURSOS QUE SE ALASTRAM NA SOCIEDADE (COMPETIR SUBSTITUIR O DISCRUSO HUMANO EM CIRCULAÇÃO – COM BASE NA LITERATURA – DISCRUSO ECOLÓGICO ABSTRACT DO GREENPEACE TEM </a:t>
            </a:r>
          </a:p>
          <a:p>
            <a:pPr marL="342900" indent="-342900">
              <a:buFont typeface="Arial" panose="020B0604020202020204" pitchFamily="34" charset="0"/>
              <a:buChar char="•"/>
            </a:pPr>
            <a:r>
              <a:rPr lang="pt-BR" sz="2200" dirty="0"/>
              <a:t>Na medida em que os </a:t>
            </a:r>
            <a:r>
              <a:rPr lang="pt-BR" sz="2200" dirty="0" err="1"/>
              <a:t>LLMs</a:t>
            </a:r>
            <a:r>
              <a:rPr lang="pt-BR" sz="2200" dirty="0"/>
              <a:t> produzem discursos que se alastram na sociedade, esses discursos podem competir, reforçar ou substituir os dos grupos sociais humanos. Para descobrir como e em que medida os discursos sintéticos se assemelham ou se diferenciam dos humanos, é preciso realizar uma análise comparativa dos discursos dessas fontes sobre o mesmo objeto.</a:t>
            </a:r>
          </a:p>
          <a:p>
            <a:pPr marL="342900" indent="-342900">
              <a:buFont typeface="Arial" panose="020B0604020202020204" pitchFamily="34" charset="0"/>
              <a:buChar char="•"/>
            </a:pPr>
            <a:r>
              <a:rPr lang="pt-BR" sz="2200" dirty="0">
                <a:solidFill>
                  <a:srgbClr val="FF0000"/>
                </a:solidFill>
              </a:rPr>
              <a:t> O QUE ESTÁ FAÇTANDO NO ESTADO DA ARTE E REVISÃO LITERATURA ESTÁ FALTANADO O QUE EU QUERO FAZER, CONHECIMENTO INTERNO E IDEOLOGICO DA </a:t>
            </a:r>
            <a:r>
              <a:rPr lang="pt-BR" sz="2200" dirty="0" err="1">
                <a:solidFill>
                  <a:srgbClr val="FF0000"/>
                </a:solidFill>
              </a:rPr>
              <a:t>llmS</a:t>
            </a:r>
            <a:r>
              <a:rPr lang="pt-BR" sz="2200" dirty="0">
                <a:solidFill>
                  <a:srgbClr val="FF0000"/>
                </a:solidFill>
              </a:rPr>
              <a:t> EM RELÇAÕ AO DISCUROS ECOLOGÓGICO, QUAL IDEOLOGIA ECOLOGICA SEM PERGUNTAR DIRETAMENTE. DIRETAMENTE ELA VAI DIZER O QUE A EMPRES TENHA PO,. NOS POR MEIOS DE SIMULAÇÕES DE REGISTROS DE CONSTEXTOS PARA ENTENDER O QUE EMERGE DO MUNDO REAL CONTEXTO , FALTA </a:t>
            </a:r>
          </a:p>
          <a:p>
            <a:pPr marL="342900" indent="-342900">
              <a:buFont typeface="Arial" panose="020B0604020202020204" pitchFamily="34" charset="0"/>
              <a:buChar char="•"/>
            </a:pPr>
            <a:endParaRPr lang="pt-BR" sz="2200" dirty="0"/>
          </a:p>
          <a:p>
            <a:pPr marL="342900" indent="-342900">
              <a:buFont typeface="Arial" panose="020B0604020202020204" pitchFamily="34" charset="0"/>
              <a:buChar char="•"/>
            </a:pPr>
            <a:r>
              <a:rPr lang="pt-BR" sz="2200" dirty="0"/>
              <a:t>A pesquisa propõe uma abordagem metodológica de corpora robustos. Serão analisados milhares de textos, permitindo assim a identificação de padrões discursivos estatisticamente amparados.</a:t>
            </a:r>
          </a:p>
        </p:txBody>
      </p:sp>
    </p:spTree>
    <p:extLst>
      <p:ext uri="{BB962C8B-B14F-4D97-AF65-F5344CB8AC3E}">
        <p14:creationId xmlns:p14="http://schemas.microsoft.com/office/powerpoint/2010/main" val="2893079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1BD23A1-DE30-5D48-3ECE-3D62628C7EC3}"/>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F12AB2E-CE73-7F34-AE7F-BA700D1169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EC6E9F9-2D0D-8A84-08A8-4EB6164A26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C901BAB-CDBB-01EA-7707-0E27A496E1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3341D61-392B-DE23-1CE0-B7EA72C2CF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53987D1-03CC-F6B8-92A5-7869E7D496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Google Shape;98;p1">
            <a:extLst>
              <a:ext uri="{FF2B5EF4-FFF2-40B4-BE49-F238E27FC236}">
                <a16:creationId xmlns:a16="http://schemas.microsoft.com/office/drawing/2014/main" id="{2D963C91-2CB2-321B-2377-C8A8027F29A8}"/>
              </a:ext>
            </a:extLst>
          </p:cNvPr>
          <p:cNvSpPr txBox="1">
            <a:spLocks/>
          </p:cNvSpPr>
          <p:nvPr/>
        </p:nvSpPr>
        <p:spPr>
          <a:xfrm>
            <a:off x="1371599" y="294538"/>
            <a:ext cx="9895951" cy="1033669"/>
          </a:xfrm>
          <a:prstGeom prst="rect">
            <a:avLst/>
          </a:prstGeom>
        </p:spPr>
        <p:txBody>
          <a:bodyPr spcFirstLastPara="1"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baseline="0">
                <a:solidFill>
                  <a:schemeClr val="tx1"/>
                </a:solidFill>
                <a:latin typeface="Open Sans Light" panose="020B03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baseline="0">
                <a:solidFill>
                  <a:schemeClr val="tx1"/>
                </a:solidFill>
                <a:latin typeface="Open Sans Light" panose="020B03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baseline="0">
                <a:solidFill>
                  <a:schemeClr val="tx1"/>
                </a:solidFill>
                <a:latin typeface="Open Sans Light" panose="020B03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baseline="0">
                <a:solidFill>
                  <a:schemeClr val="tx1"/>
                </a:solidFill>
                <a:latin typeface="Open Sans Light" panose="020B03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baseline="0">
                <a:solidFill>
                  <a:schemeClr val="tx1"/>
                </a:solidFill>
                <a:latin typeface="Open Sans Light" panose="020B03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ts val="600"/>
              </a:spcAft>
              <a:buClr>
                <a:srgbClr val="5E5E5E"/>
              </a:buClr>
              <a:buSzPts val="3200"/>
              <a:buNone/>
            </a:pPr>
            <a:r>
              <a:rPr lang="en-US" sz="4000" b="1" kern="1200" dirty="0" err="1">
                <a:solidFill>
                  <a:srgbClr val="FFFFFF"/>
                </a:solidFill>
                <a:latin typeface="+mj-lt"/>
                <a:ea typeface="+mj-ea"/>
                <a:cs typeface="+mj-cs"/>
              </a:rPr>
              <a:t>Metodologia</a:t>
            </a:r>
            <a:endParaRPr lang="en-US" sz="4000" b="1" kern="1200" dirty="0">
              <a:solidFill>
                <a:srgbClr val="FFFFFF"/>
              </a:solidFill>
              <a:effectLst/>
              <a:latin typeface="+mj-lt"/>
              <a:ea typeface="+mj-ea"/>
              <a:cs typeface="+mj-cs"/>
            </a:endParaRPr>
          </a:p>
        </p:txBody>
      </p:sp>
      <p:sp>
        <p:nvSpPr>
          <p:cNvPr id="3" name="CaixaDeTexto 2">
            <a:extLst>
              <a:ext uri="{FF2B5EF4-FFF2-40B4-BE49-F238E27FC236}">
                <a16:creationId xmlns:a16="http://schemas.microsoft.com/office/drawing/2014/main" id="{4FEDD138-D7F1-E7A6-02E6-DEE04F117857}"/>
              </a:ext>
            </a:extLst>
          </p:cNvPr>
          <p:cNvSpPr txBox="1"/>
          <p:nvPr/>
        </p:nvSpPr>
        <p:spPr>
          <a:xfrm>
            <a:off x="459349" y="1885279"/>
            <a:ext cx="11128305" cy="4499756"/>
          </a:xfrm>
          <a:prstGeom prst="rect">
            <a:avLst/>
          </a:prstGeom>
        </p:spPr>
        <p:txBody>
          <a:bodyPr vert="horz" lIns="91440" tIns="45720" rIns="91440" bIns="45720" rtlCol="0" anchor="ctr">
            <a:normAutofit/>
          </a:bodyPr>
          <a:lstStyle/>
          <a:p>
            <a:pPr algn="just"/>
            <a:r>
              <a:rPr lang="pt-BR" sz="2200" dirty="0"/>
              <a:t>AMD Lexical é uma extensão da Análise Multidimensional de Biber, voltada exclusivamente para traços lexicais, com o objetivo de identificar construções discursivas e ideológicas latentes nos textos (</a:t>
            </a:r>
            <a:r>
              <a:rPr lang="pt-BR" sz="2200" dirty="0" err="1"/>
              <a:t>Berber</a:t>
            </a:r>
            <a:r>
              <a:rPr lang="pt-BR" sz="2200" dirty="0"/>
              <a:t> Sardinha; </a:t>
            </a:r>
            <a:r>
              <a:rPr lang="pt-BR" sz="2200" dirty="0" err="1"/>
              <a:t>Fitzsimmons-Doolan</a:t>
            </a:r>
            <a:r>
              <a:rPr lang="pt-BR" sz="2200" dirty="0"/>
              <a:t>, 2025).</a:t>
            </a:r>
          </a:p>
          <a:p>
            <a:endParaRPr lang="pt-BR" dirty="0"/>
          </a:p>
          <a:p>
            <a:pPr marL="342900" indent="-342900">
              <a:buFont typeface="Arial" panose="020B0604020202020204" pitchFamily="34" charset="0"/>
              <a:buChar char="•"/>
            </a:pPr>
            <a:r>
              <a:rPr lang="pt-BR" sz="2400" b="1" dirty="0"/>
              <a:t>Foco no léxico: </a:t>
            </a:r>
            <a:r>
              <a:rPr lang="pt-BR" sz="2400" dirty="0"/>
              <a:t>opera com palavras de conteúdo, n-gramas, colocações ou categorias semânticas.</a:t>
            </a:r>
          </a:p>
          <a:p>
            <a:pPr marL="342900" indent="-342900">
              <a:buFont typeface="Arial" panose="020B0604020202020204" pitchFamily="34" charset="0"/>
              <a:buChar char="•"/>
            </a:pPr>
            <a:r>
              <a:rPr lang="pt-BR" sz="2400" b="1" dirty="0"/>
              <a:t>Orientação discursiva: </a:t>
            </a:r>
            <a:r>
              <a:rPr lang="pt-BR" sz="2400" dirty="0"/>
              <a:t>as dimensões são interpretadas como discursos ou representações.</a:t>
            </a:r>
          </a:p>
          <a:p>
            <a:pPr marL="342900" indent="-342900">
              <a:buFont typeface="Arial" panose="020B0604020202020204" pitchFamily="34" charset="0"/>
              <a:buChar char="•"/>
            </a:pPr>
            <a:r>
              <a:rPr lang="pt-BR" sz="2400" b="1" dirty="0"/>
              <a:t>Abordagem estatística:</a:t>
            </a:r>
            <a:r>
              <a:rPr lang="pt-BR" sz="2400" dirty="0"/>
              <a:t> Emprega as mesmas ferramentas estatísticas da MDA tradicional (e.g. análise fatorial).</a:t>
            </a:r>
          </a:p>
          <a:p>
            <a:pPr marL="342900" indent="-342900">
              <a:buFont typeface="Arial" panose="020B0604020202020204" pitchFamily="34" charset="0"/>
              <a:buChar char="•"/>
            </a:pPr>
            <a:r>
              <a:rPr lang="pt-BR" sz="2400" b="1" dirty="0"/>
              <a:t>Interpretação textual: </a:t>
            </a:r>
            <a:r>
              <a:rPr lang="pt-BR" sz="2400" dirty="0"/>
              <a:t>após identificar as dimensões estatísticas, realiza-se uma leitura aprofundada dos textos com maiores escores em cada dimensão.</a:t>
            </a:r>
          </a:p>
        </p:txBody>
      </p:sp>
    </p:spTree>
    <p:extLst>
      <p:ext uri="{BB962C8B-B14F-4D97-AF65-F5344CB8AC3E}">
        <p14:creationId xmlns:p14="http://schemas.microsoft.com/office/powerpoint/2010/main" val="30097331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B42DFFB-EA40-3203-9CAC-FD0D5B764AAD}"/>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CF1A6B9-3009-707B-26EC-1C1A340519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F18308C-6B5E-7226-0C02-218705BD11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AE0DAB7-91B0-B689-4D1C-726D27BE5B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2E48D34-D748-6897-3145-2D3EA055B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FE0743B-A1A1-24C0-9904-1CBC54A80B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Google Shape;98;p1">
            <a:extLst>
              <a:ext uri="{FF2B5EF4-FFF2-40B4-BE49-F238E27FC236}">
                <a16:creationId xmlns:a16="http://schemas.microsoft.com/office/drawing/2014/main" id="{B950880D-A963-FF9B-8C8D-D48FF40147FD}"/>
              </a:ext>
            </a:extLst>
          </p:cNvPr>
          <p:cNvSpPr txBox="1">
            <a:spLocks/>
          </p:cNvSpPr>
          <p:nvPr/>
        </p:nvSpPr>
        <p:spPr>
          <a:xfrm>
            <a:off x="1371599" y="294538"/>
            <a:ext cx="9895951" cy="1033669"/>
          </a:xfrm>
          <a:prstGeom prst="rect">
            <a:avLst/>
          </a:prstGeom>
        </p:spPr>
        <p:txBody>
          <a:bodyPr spcFirstLastPara="1"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baseline="0">
                <a:solidFill>
                  <a:schemeClr val="tx1"/>
                </a:solidFill>
                <a:latin typeface="Open Sans Light" panose="020B03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baseline="0">
                <a:solidFill>
                  <a:schemeClr val="tx1"/>
                </a:solidFill>
                <a:latin typeface="Open Sans Light" panose="020B03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baseline="0">
                <a:solidFill>
                  <a:schemeClr val="tx1"/>
                </a:solidFill>
                <a:latin typeface="Open Sans Light" panose="020B03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baseline="0">
                <a:solidFill>
                  <a:schemeClr val="tx1"/>
                </a:solidFill>
                <a:latin typeface="Open Sans Light" panose="020B03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baseline="0">
                <a:solidFill>
                  <a:schemeClr val="tx1"/>
                </a:solidFill>
                <a:latin typeface="Open Sans Light" panose="020B03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ts val="600"/>
              </a:spcAft>
              <a:buClr>
                <a:srgbClr val="5E5E5E"/>
              </a:buClr>
              <a:buSzPts val="3200"/>
              <a:buNone/>
            </a:pPr>
            <a:r>
              <a:rPr lang="en-US" sz="4000" b="1" dirty="0">
                <a:solidFill>
                  <a:srgbClr val="FFFFFF"/>
                </a:solidFill>
                <a:latin typeface="+mj-lt"/>
                <a:ea typeface="+mj-ea"/>
                <a:cs typeface="+mj-cs"/>
              </a:rPr>
              <a:t>Corpus Design </a:t>
            </a:r>
            <a:endParaRPr lang="en-US" sz="4000" b="1" kern="1200" dirty="0">
              <a:solidFill>
                <a:srgbClr val="FFFFFF"/>
              </a:solidFill>
              <a:effectLst/>
              <a:latin typeface="+mj-lt"/>
              <a:ea typeface="+mj-ea"/>
              <a:cs typeface="+mj-cs"/>
            </a:endParaRPr>
          </a:p>
        </p:txBody>
      </p:sp>
      <p:sp>
        <p:nvSpPr>
          <p:cNvPr id="2" name="Retângulo 1">
            <a:extLst>
              <a:ext uri="{FF2B5EF4-FFF2-40B4-BE49-F238E27FC236}">
                <a16:creationId xmlns:a16="http://schemas.microsoft.com/office/drawing/2014/main" id="{2ECE8A90-DDCA-AEB9-6EC1-187AE593C73A}"/>
              </a:ext>
            </a:extLst>
          </p:cNvPr>
          <p:cNvSpPr/>
          <p:nvPr/>
        </p:nvSpPr>
        <p:spPr>
          <a:xfrm>
            <a:off x="87120" y="4172594"/>
            <a:ext cx="1954082" cy="1187669"/>
          </a:xfrm>
          <a:prstGeom prst="rect">
            <a:avLst/>
          </a:prstGeom>
          <a:solidFill>
            <a:srgbClr val="007A3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Retângulo 4">
            <a:extLst>
              <a:ext uri="{FF2B5EF4-FFF2-40B4-BE49-F238E27FC236}">
                <a16:creationId xmlns:a16="http://schemas.microsoft.com/office/drawing/2014/main" id="{940681BA-A8DE-7AE6-1126-99419787A31A}"/>
              </a:ext>
            </a:extLst>
          </p:cNvPr>
          <p:cNvSpPr/>
          <p:nvPr/>
        </p:nvSpPr>
        <p:spPr>
          <a:xfrm>
            <a:off x="2070911" y="2608222"/>
            <a:ext cx="2893019" cy="1288289"/>
          </a:xfrm>
          <a:prstGeom prst="rect">
            <a:avLst/>
          </a:prstGeom>
          <a:solidFill>
            <a:srgbClr val="007A3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CaixaDeTexto 5">
            <a:extLst>
              <a:ext uri="{FF2B5EF4-FFF2-40B4-BE49-F238E27FC236}">
                <a16:creationId xmlns:a16="http://schemas.microsoft.com/office/drawing/2014/main" id="{DF3B8EB6-2541-FD78-29B7-77434623F2E7}"/>
              </a:ext>
            </a:extLst>
          </p:cNvPr>
          <p:cNvSpPr txBox="1"/>
          <p:nvPr/>
        </p:nvSpPr>
        <p:spPr>
          <a:xfrm>
            <a:off x="52584" y="4559307"/>
            <a:ext cx="2135813" cy="430887"/>
          </a:xfrm>
          <a:prstGeom prst="rect">
            <a:avLst/>
          </a:prstGeom>
          <a:noFill/>
        </p:spPr>
        <p:txBody>
          <a:bodyPr wrap="square" rtlCol="0">
            <a:spAutoFit/>
          </a:bodyPr>
          <a:lstStyle/>
          <a:p>
            <a:r>
              <a:rPr lang="pt-BR" sz="2200" b="1" dirty="0"/>
              <a:t>GOVERNMENT</a:t>
            </a:r>
          </a:p>
        </p:txBody>
      </p:sp>
      <p:sp>
        <p:nvSpPr>
          <p:cNvPr id="7" name="Retângulo 6">
            <a:extLst>
              <a:ext uri="{FF2B5EF4-FFF2-40B4-BE49-F238E27FC236}">
                <a16:creationId xmlns:a16="http://schemas.microsoft.com/office/drawing/2014/main" id="{6E918552-4B69-54F0-8B6F-BF68C396458B}"/>
              </a:ext>
            </a:extLst>
          </p:cNvPr>
          <p:cNvSpPr/>
          <p:nvPr/>
        </p:nvSpPr>
        <p:spPr>
          <a:xfrm>
            <a:off x="2557052" y="4230398"/>
            <a:ext cx="1954082" cy="1187669"/>
          </a:xfrm>
          <a:prstGeom prst="rect">
            <a:avLst/>
          </a:prstGeom>
          <a:solidFill>
            <a:srgbClr val="007A3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CaixaDeTexto 7">
            <a:extLst>
              <a:ext uri="{FF2B5EF4-FFF2-40B4-BE49-F238E27FC236}">
                <a16:creationId xmlns:a16="http://schemas.microsoft.com/office/drawing/2014/main" id="{EBD40090-B143-1612-0338-4937D7697E82}"/>
              </a:ext>
            </a:extLst>
          </p:cNvPr>
          <p:cNvSpPr txBox="1"/>
          <p:nvPr/>
        </p:nvSpPr>
        <p:spPr>
          <a:xfrm>
            <a:off x="4815917" y="4193607"/>
            <a:ext cx="1726763" cy="1354217"/>
          </a:xfrm>
          <a:prstGeom prst="rect">
            <a:avLst/>
          </a:prstGeom>
          <a:solidFill>
            <a:srgbClr val="007A37"/>
          </a:solidFill>
        </p:spPr>
        <p:txBody>
          <a:bodyPr wrap="square" rtlCol="0">
            <a:spAutoFit/>
          </a:bodyPr>
          <a:lstStyle/>
          <a:p>
            <a:pPr algn="ctr"/>
            <a:endParaRPr lang="pt-BR" sz="1400" b="1" dirty="0"/>
          </a:p>
          <a:p>
            <a:pPr algn="ctr"/>
            <a:r>
              <a:rPr lang="pt-BR" sz="2400" b="1" dirty="0"/>
              <a:t>SOCIAL MEDIA</a:t>
            </a:r>
            <a:endParaRPr lang="pt-BR" b="1" dirty="0"/>
          </a:p>
          <a:p>
            <a:pPr algn="ctr"/>
            <a:endParaRPr lang="pt-BR" sz="2000" b="1" dirty="0"/>
          </a:p>
        </p:txBody>
      </p:sp>
      <p:sp>
        <p:nvSpPr>
          <p:cNvPr id="10" name="Retângulo 9">
            <a:extLst>
              <a:ext uri="{FF2B5EF4-FFF2-40B4-BE49-F238E27FC236}">
                <a16:creationId xmlns:a16="http://schemas.microsoft.com/office/drawing/2014/main" id="{669A7AA2-7AF2-D9C7-2BDA-5EB607146184}"/>
              </a:ext>
            </a:extLst>
          </p:cNvPr>
          <p:cNvSpPr/>
          <p:nvPr/>
        </p:nvSpPr>
        <p:spPr>
          <a:xfrm>
            <a:off x="7029232" y="4193606"/>
            <a:ext cx="1954082" cy="1187669"/>
          </a:xfrm>
          <a:prstGeom prst="rect">
            <a:avLst/>
          </a:prstGeom>
          <a:solidFill>
            <a:srgbClr val="007A3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CaixaDeTexto 11">
            <a:extLst>
              <a:ext uri="{FF2B5EF4-FFF2-40B4-BE49-F238E27FC236}">
                <a16:creationId xmlns:a16="http://schemas.microsoft.com/office/drawing/2014/main" id="{EA30D5AE-8916-6C5C-9258-DAAE68AB42DB}"/>
              </a:ext>
            </a:extLst>
          </p:cNvPr>
          <p:cNvSpPr txBox="1"/>
          <p:nvPr/>
        </p:nvSpPr>
        <p:spPr>
          <a:xfrm>
            <a:off x="7400097" y="4543919"/>
            <a:ext cx="1365545" cy="461665"/>
          </a:xfrm>
          <a:prstGeom prst="rect">
            <a:avLst/>
          </a:prstGeom>
          <a:solidFill>
            <a:srgbClr val="007A37"/>
          </a:solidFill>
        </p:spPr>
        <p:txBody>
          <a:bodyPr wrap="square" rtlCol="0">
            <a:spAutoFit/>
          </a:bodyPr>
          <a:lstStyle/>
          <a:p>
            <a:r>
              <a:rPr lang="pt-BR" sz="2400" b="1" dirty="0"/>
              <a:t>PRESS</a:t>
            </a:r>
          </a:p>
        </p:txBody>
      </p:sp>
      <p:sp>
        <p:nvSpPr>
          <p:cNvPr id="14" name="Retângulo 13">
            <a:extLst>
              <a:ext uri="{FF2B5EF4-FFF2-40B4-BE49-F238E27FC236}">
                <a16:creationId xmlns:a16="http://schemas.microsoft.com/office/drawing/2014/main" id="{DED0F2E0-6DA7-9E46-538A-770BE27A6A0A}"/>
              </a:ext>
            </a:extLst>
          </p:cNvPr>
          <p:cNvSpPr/>
          <p:nvPr/>
        </p:nvSpPr>
        <p:spPr>
          <a:xfrm>
            <a:off x="9162943" y="2608418"/>
            <a:ext cx="2893019" cy="1288289"/>
          </a:xfrm>
          <a:prstGeom prst="rect">
            <a:avLst/>
          </a:prstGeom>
          <a:solidFill>
            <a:srgbClr val="007A3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6" name="Retângulo 15">
            <a:extLst>
              <a:ext uri="{FF2B5EF4-FFF2-40B4-BE49-F238E27FC236}">
                <a16:creationId xmlns:a16="http://schemas.microsoft.com/office/drawing/2014/main" id="{5E0D8323-70C0-A6D6-A831-3D8ECF9CA207}"/>
              </a:ext>
            </a:extLst>
          </p:cNvPr>
          <p:cNvSpPr/>
          <p:nvPr/>
        </p:nvSpPr>
        <p:spPr>
          <a:xfrm>
            <a:off x="9595961" y="4172594"/>
            <a:ext cx="2201909" cy="1187669"/>
          </a:xfrm>
          <a:prstGeom prst="rect">
            <a:avLst/>
          </a:prstGeom>
          <a:solidFill>
            <a:srgbClr val="007A3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CaixaDeTexto 17">
            <a:extLst>
              <a:ext uri="{FF2B5EF4-FFF2-40B4-BE49-F238E27FC236}">
                <a16:creationId xmlns:a16="http://schemas.microsoft.com/office/drawing/2014/main" id="{D9BCDEE6-118C-C0ED-BCAB-8075A66E2C8E}"/>
              </a:ext>
            </a:extLst>
          </p:cNvPr>
          <p:cNvSpPr txBox="1"/>
          <p:nvPr/>
        </p:nvSpPr>
        <p:spPr>
          <a:xfrm>
            <a:off x="10183491" y="4517256"/>
            <a:ext cx="1404207" cy="480004"/>
          </a:xfrm>
          <a:prstGeom prst="rect">
            <a:avLst/>
          </a:prstGeom>
          <a:solidFill>
            <a:srgbClr val="007A37"/>
          </a:solidFill>
        </p:spPr>
        <p:txBody>
          <a:bodyPr wrap="square" rtlCol="0">
            <a:spAutoFit/>
          </a:bodyPr>
          <a:lstStyle/>
          <a:p>
            <a:r>
              <a:rPr lang="pt-BR" sz="2400" b="1" dirty="0" err="1"/>
              <a:t>L.L.M.s</a:t>
            </a:r>
            <a:endParaRPr lang="pt-BR" sz="2400" b="1" dirty="0"/>
          </a:p>
        </p:txBody>
      </p:sp>
      <p:sp>
        <p:nvSpPr>
          <p:cNvPr id="19" name="Retângulo 18">
            <a:extLst>
              <a:ext uri="{FF2B5EF4-FFF2-40B4-BE49-F238E27FC236}">
                <a16:creationId xmlns:a16="http://schemas.microsoft.com/office/drawing/2014/main" id="{D0D7080D-41C5-9719-3BF6-33BA7F07046C}"/>
              </a:ext>
            </a:extLst>
          </p:cNvPr>
          <p:cNvSpPr/>
          <p:nvPr/>
        </p:nvSpPr>
        <p:spPr>
          <a:xfrm>
            <a:off x="9805387" y="5759411"/>
            <a:ext cx="2032271" cy="964024"/>
          </a:xfrm>
          <a:prstGeom prst="rect">
            <a:avLst/>
          </a:prstGeom>
          <a:solidFill>
            <a:srgbClr val="007A3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0" name="CaixaDeTexto 19">
            <a:extLst>
              <a:ext uri="{FF2B5EF4-FFF2-40B4-BE49-F238E27FC236}">
                <a16:creationId xmlns:a16="http://schemas.microsoft.com/office/drawing/2014/main" id="{658F1997-4A45-BDF6-801B-5C855334114F}"/>
              </a:ext>
            </a:extLst>
          </p:cNvPr>
          <p:cNvSpPr txBox="1"/>
          <p:nvPr/>
        </p:nvSpPr>
        <p:spPr>
          <a:xfrm>
            <a:off x="9941689" y="5800105"/>
            <a:ext cx="1840415" cy="923330"/>
          </a:xfrm>
          <a:prstGeom prst="rect">
            <a:avLst/>
          </a:prstGeom>
          <a:solidFill>
            <a:srgbClr val="007A37"/>
          </a:solidFill>
        </p:spPr>
        <p:txBody>
          <a:bodyPr wrap="square" rtlCol="0">
            <a:spAutoFit/>
          </a:bodyPr>
          <a:lstStyle/>
          <a:p>
            <a:pPr algn="ctr"/>
            <a:r>
              <a:rPr lang="pt-BR" b="1" dirty="0"/>
              <a:t>ChatGPT</a:t>
            </a:r>
          </a:p>
          <a:p>
            <a:pPr algn="ctr"/>
            <a:r>
              <a:rPr lang="pt-BR" b="1" dirty="0"/>
              <a:t>Gemini</a:t>
            </a:r>
          </a:p>
          <a:p>
            <a:pPr algn="ctr"/>
            <a:r>
              <a:rPr lang="pt-BR" b="1" dirty="0" err="1"/>
              <a:t>Grok</a:t>
            </a:r>
            <a:endParaRPr lang="pt-BR" b="1" dirty="0"/>
          </a:p>
        </p:txBody>
      </p:sp>
      <p:sp>
        <p:nvSpPr>
          <p:cNvPr id="21" name="CaixaDeTexto 20">
            <a:extLst>
              <a:ext uri="{FF2B5EF4-FFF2-40B4-BE49-F238E27FC236}">
                <a16:creationId xmlns:a16="http://schemas.microsoft.com/office/drawing/2014/main" id="{B3E1EB8A-A68F-6A81-3FCD-72E8F464B8CF}"/>
              </a:ext>
            </a:extLst>
          </p:cNvPr>
          <p:cNvSpPr txBox="1"/>
          <p:nvPr/>
        </p:nvSpPr>
        <p:spPr>
          <a:xfrm>
            <a:off x="2085721" y="2663157"/>
            <a:ext cx="2878209" cy="1107996"/>
          </a:xfrm>
          <a:prstGeom prst="rect">
            <a:avLst/>
          </a:prstGeom>
          <a:solidFill>
            <a:srgbClr val="007A37"/>
          </a:solidFill>
        </p:spPr>
        <p:txBody>
          <a:bodyPr wrap="square" rtlCol="0">
            <a:spAutoFit/>
          </a:bodyPr>
          <a:lstStyle/>
          <a:p>
            <a:pPr algn="ctr"/>
            <a:r>
              <a:rPr lang="pt-BR" sz="2400" b="1" dirty="0"/>
              <a:t>HUMAN</a:t>
            </a:r>
          </a:p>
          <a:p>
            <a:pPr algn="ctr"/>
            <a:r>
              <a:rPr lang="pt-BR" b="1" dirty="0"/>
              <a:t>De 2015 (Acordo de Paris) até Novembro de 2022</a:t>
            </a:r>
            <a:r>
              <a:rPr lang="pt-BR" sz="2400" b="1" dirty="0"/>
              <a:t> </a:t>
            </a:r>
          </a:p>
        </p:txBody>
      </p:sp>
      <p:sp>
        <p:nvSpPr>
          <p:cNvPr id="22" name="CaixaDeTexto 21">
            <a:extLst>
              <a:ext uri="{FF2B5EF4-FFF2-40B4-BE49-F238E27FC236}">
                <a16:creationId xmlns:a16="http://schemas.microsoft.com/office/drawing/2014/main" id="{385050CA-3BD4-5ED7-C0C6-5385900756B0}"/>
              </a:ext>
            </a:extLst>
          </p:cNvPr>
          <p:cNvSpPr txBox="1"/>
          <p:nvPr/>
        </p:nvSpPr>
        <p:spPr>
          <a:xfrm>
            <a:off x="10297833" y="2999241"/>
            <a:ext cx="774343" cy="461665"/>
          </a:xfrm>
          <a:prstGeom prst="rect">
            <a:avLst/>
          </a:prstGeom>
          <a:solidFill>
            <a:srgbClr val="007A37"/>
          </a:solidFill>
        </p:spPr>
        <p:txBody>
          <a:bodyPr wrap="square" rtlCol="0">
            <a:spAutoFit/>
          </a:bodyPr>
          <a:lstStyle/>
          <a:p>
            <a:r>
              <a:rPr lang="pt-BR" sz="2400" b="1" dirty="0"/>
              <a:t>A.I.</a:t>
            </a:r>
          </a:p>
        </p:txBody>
      </p:sp>
      <p:sp>
        <p:nvSpPr>
          <p:cNvPr id="23" name="Retângulo 22">
            <a:extLst>
              <a:ext uri="{FF2B5EF4-FFF2-40B4-BE49-F238E27FC236}">
                <a16:creationId xmlns:a16="http://schemas.microsoft.com/office/drawing/2014/main" id="{53EAF7DF-09EE-DB1E-7598-FDDB7EC66F0A}"/>
              </a:ext>
            </a:extLst>
          </p:cNvPr>
          <p:cNvSpPr/>
          <p:nvPr/>
        </p:nvSpPr>
        <p:spPr>
          <a:xfrm>
            <a:off x="311243" y="5712071"/>
            <a:ext cx="1450654" cy="1145928"/>
          </a:xfrm>
          <a:prstGeom prst="rect">
            <a:avLst/>
          </a:prstGeom>
          <a:solidFill>
            <a:srgbClr val="007A3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4" name="CaixaDeTexto 23">
            <a:extLst>
              <a:ext uri="{FF2B5EF4-FFF2-40B4-BE49-F238E27FC236}">
                <a16:creationId xmlns:a16="http://schemas.microsoft.com/office/drawing/2014/main" id="{48139BE2-C121-06CF-0F5F-63CF4F2E2A7C}"/>
              </a:ext>
            </a:extLst>
          </p:cNvPr>
          <p:cNvSpPr txBox="1"/>
          <p:nvPr/>
        </p:nvSpPr>
        <p:spPr>
          <a:xfrm>
            <a:off x="618286" y="5724779"/>
            <a:ext cx="1096317" cy="1138773"/>
          </a:xfrm>
          <a:prstGeom prst="rect">
            <a:avLst/>
          </a:prstGeom>
          <a:solidFill>
            <a:srgbClr val="007A37"/>
          </a:solidFill>
        </p:spPr>
        <p:txBody>
          <a:bodyPr wrap="square" rtlCol="0">
            <a:spAutoFit/>
          </a:bodyPr>
          <a:lstStyle/>
          <a:p>
            <a:r>
              <a:rPr lang="pt-BR" sz="2800" b="1" dirty="0"/>
              <a:t>UN</a:t>
            </a:r>
            <a:br>
              <a:rPr lang="pt-BR" sz="2400" b="1" dirty="0"/>
            </a:br>
            <a:r>
              <a:rPr lang="pt-BR" sz="2000" b="1" dirty="0"/>
              <a:t>COP/ IPCC</a:t>
            </a:r>
            <a:endParaRPr lang="pt-BR" sz="2400" b="1" dirty="0"/>
          </a:p>
        </p:txBody>
      </p:sp>
      <p:sp>
        <p:nvSpPr>
          <p:cNvPr id="25" name="Retângulo 24">
            <a:extLst>
              <a:ext uri="{FF2B5EF4-FFF2-40B4-BE49-F238E27FC236}">
                <a16:creationId xmlns:a16="http://schemas.microsoft.com/office/drawing/2014/main" id="{7804DC0C-D90E-5824-581B-E9E2F91655B5}"/>
              </a:ext>
            </a:extLst>
          </p:cNvPr>
          <p:cNvSpPr/>
          <p:nvPr/>
        </p:nvSpPr>
        <p:spPr>
          <a:xfrm>
            <a:off x="2480284" y="5811589"/>
            <a:ext cx="2245358" cy="870627"/>
          </a:xfrm>
          <a:prstGeom prst="rect">
            <a:avLst/>
          </a:prstGeom>
          <a:solidFill>
            <a:srgbClr val="007A3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6" name="CaixaDeTexto 25">
            <a:extLst>
              <a:ext uri="{FF2B5EF4-FFF2-40B4-BE49-F238E27FC236}">
                <a16:creationId xmlns:a16="http://schemas.microsoft.com/office/drawing/2014/main" id="{ECA292E4-F80A-EDD6-A794-0589C668EFA0}"/>
              </a:ext>
            </a:extLst>
          </p:cNvPr>
          <p:cNvSpPr txBox="1"/>
          <p:nvPr/>
        </p:nvSpPr>
        <p:spPr>
          <a:xfrm>
            <a:off x="2480276" y="5731182"/>
            <a:ext cx="2245364" cy="923330"/>
          </a:xfrm>
          <a:prstGeom prst="rect">
            <a:avLst/>
          </a:prstGeom>
          <a:solidFill>
            <a:srgbClr val="007A37"/>
          </a:solidFill>
        </p:spPr>
        <p:txBody>
          <a:bodyPr wrap="square" rtlCol="0">
            <a:spAutoFit/>
          </a:bodyPr>
          <a:lstStyle/>
          <a:p>
            <a:r>
              <a:rPr lang="pt-BR" b="1" dirty="0"/>
              <a:t>Greenpeace;</a:t>
            </a:r>
            <a:endParaRPr lang="pt-BR" sz="2400" b="1" dirty="0"/>
          </a:p>
          <a:p>
            <a:r>
              <a:rPr lang="pt-BR" b="1" dirty="0"/>
              <a:t>WWF; World </a:t>
            </a:r>
            <a:r>
              <a:rPr lang="pt-BR" b="1" dirty="0" err="1"/>
              <a:t>Resources</a:t>
            </a:r>
            <a:r>
              <a:rPr lang="pt-BR" b="1" dirty="0"/>
              <a:t> </a:t>
            </a:r>
            <a:r>
              <a:rPr lang="pt-BR" b="1" dirty="0" err="1"/>
              <a:t>Institute</a:t>
            </a:r>
            <a:endParaRPr lang="pt-BR" b="1" dirty="0"/>
          </a:p>
        </p:txBody>
      </p:sp>
      <p:sp>
        <p:nvSpPr>
          <p:cNvPr id="27" name="Retângulo 26">
            <a:extLst>
              <a:ext uri="{FF2B5EF4-FFF2-40B4-BE49-F238E27FC236}">
                <a16:creationId xmlns:a16="http://schemas.microsoft.com/office/drawing/2014/main" id="{B66BC0A6-FFF7-63F9-7D5E-56316F697F8D}"/>
              </a:ext>
            </a:extLst>
          </p:cNvPr>
          <p:cNvSpPr/>
          <p:nvPr/>
        </p:nvSpPr>
        <p:spPr>
          <a:xfrm>
            <a:off x="5106355" y="5974053"/>
            <a:ext cx="1164747" cy="653751"/>
          </a:xfrm>
          <a:prstGeom prst="rect">
            <a:avLst/>
          </a:prstGeom>
          <a:solidFill>
            <a:srgbClr val="007A3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8" name="CaixaDeTexto 27">
            <a:extLst>
              <a:ext uri="{FF2B5EF4-FFF2-40B4-BE49-F238E27FC236}">
                <a16:creationId xmlns:a16="http://schemas.microsoft.com/office/drawing/2014/main" id="{17B5F6D2-8B4A-77A9-690C-292AD4694B69}"/>
              </a:ext>
            </a:extLst>
          </p:cNvPr>
          <p:cNvSpPr txBox="1"/>
          <p:nvPr/>
        </p:nvSpPr>
        <p:spPr>
          <a:xfrm>
            <a:off x="5145709" y="6066683"/>
            <a:ext cx="1082786" cy="461665"/>
          </a:xfrm>
          <a:prstGeom prst="rect">
            <a:avLst/>
          </a:prstGeom>
          <a:noFill/>
        </p:spPr>
        <p:txBody>
          <a:bodyPr wrap="square" rtlCol="0">
            <a:spAutoFit/>
          </a:bodyPr>
          <a:lstStyle/>
          <a:p>
            <a:r>
              <a:rPr lang="pt-BR" sz="2400" b="1" dirty="0"/>
              <a:t>GETTR</a:t>
            </a:r>
          </a:p>
        </p:txBody>
      </p:sp>
      <p:sp>
        <p:nvSpPr>
          <p:cNvPr id="29" name="Retângulo 28">
            <a:extLst>
              <a:ext uri="{FF2B5EF4-FFF2-40B4-BE49-F238E27FC236}">
                <a16:creationId xmlns:a16="http://schemas.microsoft.com/office/drawing/2014/main" id="{403645C5-89E2-7CBE-63A5-A1A4421B663B}"/>
              </a:ext>
            </a:extLst>
          </p:cNvPr>
          <p:cNvSpPr/>
          <p:nvPr/>
        </p:nvSpPr>
        <p:spPr>
          <a:xfrm>
            <a:off x="7405502" y="5914293"/>
            <a:ext cx="1164747" cy="653751"/>
          </a:xfrm>
          <a:prstGeom prst="rect">
            <a:avLst/>
          </a:prstGeom>
          <a:solidFill>
            <a:srgbClr val="007A3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0" name="CaixaDeTexto 29">
            <a:extLst>
              <a:ext uri="{FF2B5EF4-FFF2-40B4-BE49-F238E27FC236}">
                <a16:creationId xmlns:a16="http://schemas.microsoft.com/office/drawing/2014/main" id="{8B4CEA90-FB2F-CD3B-9E4D-35F173F12B9F}"/>
              </a:ext>
            </a:extLst>
          </p:cNvPr>
          <p:cNvSpPr txBox="1"/>
          <p:nvPr/>
        </p:nvSpPr>
        <p:spPr>
          <a:xfrm>
            <a:off x="7476389" y="5828237"/>
            <a:ext cx="1125392" cy="800219"/>
          </a:xfrm>
          <a:prstGeom prst="rect">
            <a:avLst/>
          </a:prstGeom>
          <a:noFill/>
        </p:spPr>
        <p:txBody>
          <a:bodyPr wrap="square" rtlCol="0">
            <a:spAutoFit/>
          </a:bodyPr>
          <a:lstStyle/>
          <a:p>
            <a:r>
              <a:rPr lang="pt-BR" sz="2400" b="1" dirty="0"/>
              <a:t>NOW</a:t>
            </a:r>
          </a:p>
          <a:p>
            <a:r>
              <a:rPr lang="pt-BR" sz="1100" b="1" dirty="0"/>
              <a:t>News </a:t>
            </a:r>
            <a:r>
              <a:rPr lang="pt-BR" sz="1100" b="1" dirty="0" err="1"/>
              <a:t>Articles</a:t>
            </a:r>
            <a:r>
              <a:rPr lang="pt-BR" sz="1100" b="1" dirty="0"/>
              <a:t> Corpus</a:t>
            </a:r>
            <a:endParaRPr lang="pt-BR" sz="2400" b="1" dirty="0"/>
          </a:p>
        </p:txBody>
      </p:sp>
      <p:cxnSp>
        <p:nvCxnSpPr>
          <p:cNvPr id="31" name="Conector de Seta Reta 30">
            <a:extLst>
              <a:ext uri="{FF2B5EF4-FFF2-40B4-BE49-F238E27FC236}">
                <a16:creationId xmlns:a16="http://schemas.microsoft.com/office/drawing/2014/main" id="{E0546FBE-ADA0-286E-0177-9C27CC221D0A}"/>
              </a:ext>
            </a:extLst>
          </p:cNvPr>
          <p:cNvCxnSpPr/>
          <p:nvPr/>
        </p:nvCxnSpPr>
        <p:spPr>
          <a:xfrm>
            <a:off x="5495816" y="3230073"/>
            <a:ext cx="2878210" cy="0"/>
          </a:xfrm>
          <a:prstGeom prst="straightConnector1">
            <a:avLst/>
          </a:prstGeom>
          <a:ln w="57150">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4" name="Conector de Seta Reta 33">
            <a:extLst>
              <a:ext uri="{FF2B5EF4-FFF2-40B4-BE49-F238E27FC236}">
                <a16:creationId xmlns:a16="http://schemas.microsoft.com/office/drawing/2014/main" id="{E4E03541-2ACE-DCB9-B186-028CA6A048A4}"/>
              </a:ext>
            </a:extLst>
          </p:cNvPr>
          <p:cNvCxnSpPr>
            <a:cxnSpLocks/>
          </p:cNvCxnSpPr>
          <p:nvPr/>
        </p:nvCxnSpPr>
        <p:spPr>
          <a:xfrm>
            <a:off x="4452956" y="3925038"/>
            <a:ext cx="1129358" cy="247556"/>
          </a:xfrm>
          <a:prstGeom prst="straightConnector1">
            <a:avLst/>
          </a:prstGeom>
          <a:ln w="190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5" name="Conector de Seta Reta 34">
            <a:extLst>
              <a:ext uri="{FF2B5EF4-FFF2-40B4-BE49-F238E27FC236}">
                <a16:creationId xmlns:a16="http://schemas.microsoft.com/office/drawing/2014/main" id="{08FC76A5-2A7E-B672-A7CF-05709A3CAAA1}"/>
              </a:ext>
            </a:extLst>
          </p:cNvPr>
          <p:cNvCxnSpPr>
            <a:cxnSpLocks/>
          </p:cNvCxnSpPr>
          <p:nvPr/>
        </p:nvCxnSpPr>
        <p:spPr>
          <a:xfrm>
            <a:off x="4963930" y="3896511"/>
            <a:ext cx="2280659" cy="276083"/>
          </a:xfrm>
          <a:prstGeom prst="straightConnector1">
            <a:avLst/>
          </a:prstGeom>
          <a:ln w="190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6" name="Conector de Seta Reta 35">
            <a:extLst>
              <a:ext uri="{FF2B5EF4-FFF2-40B4-BE49-F238E27FC236}">
                <a16:creationId xmlns:a16="http://schemas.microsoft.com/office/drawing/2014/main" id="{503679CE-8139-61A3-F4FC-86FE14C56279}"/>
              </a:ext>
            </a:extLst>
          </p:cNvPr>
          <p:cNvCxnSpPr>
            <a:cxnSpLocks/>
          </p:cNvCxnSpPr>
          <p:nvPr/>
        </p:nvCxnSpPr>
        <p:spPr>
          <a:xfrm flipH="1">
            <a:off x="1875676" y="3908445"/>
            <a:ext cx="542795" cy="238675"/>
          </a:xfrm>
          <a:prstGeom prst="straightConnector1">
            <a:avLst/>
          </a:prstGeom>
          <a:ln w="190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9" name="Conector de Seta Reta 38">
            <a:extLst>
              <a:ext uri="{FF2B5EF4-FFF2-40B4-BE49-F238E27FC236}">
                <a16:creationId xmlns:a16="http://schemas.microsoft.com/office/drawing/2014/main" id="{61CDB4B9-3871-DB1B-51BF-5E3CC7548F4A}"/>
              </a:ext>
            </a:extLst>
          </p:cNvPr>
          <p:cNvCxnSpPr>
            <a:cxnSpLocks/>
          </p:cNvCxnSpPr>
          <p:nvPr/>
        </p:nvCxnSpPr>
        <p:spPr>
          <a:xfrm>
            <a:off x="5628802" y="5502466"/>
            <a:ext cx="0" cy="466783"/>
          </a:xfrm>
          <a:prstGeom prst="straightConnector1">
            <a:avLst/>
          </a:prstGeom>
          <a:ln w="190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0" name="Conector de Seta Reta 39">
            <a:extLst>
              <a:ext uri="{FF2B5EF4-FFF2-40B4-BE49-F238E27FC236}">
                <a16:creationId xmlns:a16="http://schemas.microsoft.com/office/drawing/2014/main" id="{BD3EDA5B-5677-FD64-D966-03CC36089063}"/>
              </a:ext>
            </a:extLst>
          </p:cNvPr>
          <p:cNvCxnSpPr>
            <a:cxnSpLocks/>
            <a:stCxn id="10" idx="2"/>
          </p:cNvCxnSpPr>
          <p:nvPr/>
        </p:nvCxnSpPr>
        <p:spPr>
          <a:xfrm>
            <a:off x="8006273" y="5381275"/>
            <a:ext cx="12805" cy="529192"/>
          </a:xfrm>
          <a:prstGeom prst="straightConnector1">
            <a:avLst/>
          </a:prstGeom>
          <a:ln w="190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1" name="Conector de Seta Reta 40">
            <a:extLst>
              <a:ext uri="{FF2B5EF4-FFF2-40B4-BE49-F238E27FC236}">
                <a16:creationId xmlns:a16="http://schemas.microsoft.com/office/drawing/2014/main" id="{789B8AF0-2ADF-CEF1-8F51-9D0C613F811B}"/>
              </a:ext>
            </a:extLst>
          </p:cNvPr>
          <p:cNvCxnSpPr>
            <a:cxnSpLocks/>
          </p:cNvCxnSpPr>
          <p:nvPr/>
        </p:nvCxnSpPr>
        <p:spPr>
          <a:xfrm>
            <a:off x="10713797" y="5365044"/>
            <a:ext cx="0" cy="404287"/>
          </a:xfrm>
          <a:prstGeom prst="straightConnector1">
            <a:avLst/>
          </a:prstGeom>
          <a:ln w="190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2" name="Conector de Seta Reta 41">
            <a:extLst>
              <a:ext uri="{FF2B5EF4-FFF2-40B4-BE49-F238E27FC236}">
                <a16:creationId xmlns:a16="http://schemas.microsoft.com/office/drawing/2014/main" id="{B9AEE6CE-FA4C-649A-AAB4-AB9A162B0811}"/>
              </a:ext>
            </a:extLst>
          </p:cNvPr>
          <p:cNvCxnSpPr>
            <a:cxnSpLocks/>
          </p:cNvCxnSpPr>
          <p:nvPr/>
        </p:nvCxnSpPr>
        <p:spPr>
          <a:xfrm>
            <a:off x="10673695" y="3898043"/>
            <a:ext cx="0" cy="274256"/>
          </a:xfrm>
          <a:prstGeom prst="straightConnector1">
            <a:avLst/>
          </a:prstGeom>
          <a:ln w="190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8" name="Conector de Seta Reta 47">
            <a:extLst>
              <a:ext uri="{FF2B5EF4-FFF2-40B4-BE49-F238E27FC236}">
                <a16:creationId xmlns:a16="http://schemas.microsoft.com/office/drawing/2014/main" id="{48A7550B-0713-0C08-2B27-33A56621348D}"/>
              </a:ext>
            </a:extLst>
          </p:cNvPr>
          <p:cNvCxnSpPr>
            <a:cxnSpLocks/>
          </p:cNvCxnSpPr>
          <p:nvPr/>
        </p:nvCxnSpPr>
        <p:spPr>
          <a:xfrm>
            <a:off x="3439144" y="3925038"/>
            <a:ext cx="0" cy="294559"/>
          </a:xfrm>
          <a:prstGeom prst="straightConnector1">
            <a:avLst/>
          </a:prstGeom>
          <a:ln w="190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58" name="CaixaDeTexto 57">
            <a:extLst>
              <a:ext uri="{FF2B5EF4-FFF2-40B4-BE49-F238E27FC236}">
                <a16:creationId xmlns:a16="http://schemas.microsoft.com/office/drawing/2014/main" id="{DC044453-162D-0C3A-4FFA-1E60B0D1E706}"/>
              </a:ext>
            </a:extLst>
          </p:cNvPr>
          <p:cNvSpPr txBox="1"/>
          <p:nvPr/>
        </p:nvSpPr>
        <p:spPr>
          <a:xfrm>
            <a:off x="3042864" y="4553484"/>
            <a:ext cx="1058414" cy="430887"/>
          </a:xfrm>
          <a:prstGeom prst="rect">
            <a:avLst/>
          </a:prstGeom>
          <a:noFill/>
        </p:spPr>
        <p:txBody>
          <a:bodyPr wrap="square" rtlCol="0">
            <a:spAutoFit/>
          </a:bodyPr>
          <a:lstStyle/>
          <a:p>
            <a:r>
              <a:rPr lang="pt-BR" sz="2200" b="1" dirty="0"/>
              <a:t>NGO</a:t>
            </a:r>
          </a:p>
        </p:txBody>
      </p:sp>
      <p:cxnSp>
        <p:nvCxnSpPr>
          <p:cNvPr id="59" name="Conector de Seta Reta 58">
            <a:extLst>
              <a:ext uri="{FF2B5EF4-FFF2-40B4-BE49-F238E27FC236}">
                <a16:creationId xmlns:a16="http://schemas.microsoft.com/office/drawing/2014/main" id="{1ECF49A9-7CDA-8870-5C1C-ABF49C9B2E25}"/>
              </a:ext>
            </a:extLst>
          </p:cNvPr>
          <p:cNvCxnSpPr>
            <a:cxnSpLocks/>
          </p:cNvCxnSpPr>
          <p:nvPr/>
        </p:nvCxnSpPr>
        <p:spPr>
          <a:xfrm>
            <a:off x="3481182" y="5417512"/>
            <a:ext cx="0" cy="294559"/>
          </a:xfrm>
          <a:prstGeom prst="straightConnector1">
            <a:avLst/>
          </a:prstGeom>
          <a:ln w="190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0" name="Conector de Seta Reta 59">
            <a:extLst>
              <a:ext uri="{FF2B5EF4-FFF2-40B4-BE49-F238E27FC236}">
                <a16:creationId xmlns:a16="http://schemas.microsoft.com/office/drawing/2014/main" id="{0D79CA4D-C366-FEA1-DC1C-59B47F227CBE}"/>
              </a:ext>
            </a:extLst>
          </p:cNvPr>
          <p:cNvCxnSpPr>
            <a:cxnSpLocks/>
          </p:cNvCxnSpPr>
          <p:nvPr/>
        </p:nvCxnSpPr>
        <p:spPr>
          <a:xfrm>
            <a:off x="1079927" y="5417512"/>
            <a:ext cx="0" cy="345202"/>
          </a:xfrm>
          <a:prstGeom prst="straightConnector1">
            <a:avLst/>
          </a:prstGeom>
          <a:ln w="190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6" name="CaixaDeTexto 65">
            <a:extLst>
              <a:ext uri="{FF2B5EF4-FFF2-40B4-BE49-F238E27FC236}">
                <a16:creationId xmlns:a16="http://schemas.microsoft.com/office/drawing/2014/main" id="{6143EA7A-9DF2-2533-6509-1C87E98DCE05}"/>
              </a:ext>
            </a:extLst>
          </p:cNvPr>
          <p:cNvSpPr txBox="1"/>
          <p:nvPr/>
        </p:nvSpPr>
        <p:spPr>
          <a:xfrm>
            <a:off x="837723" y="1844672"/>
            <a:ext cx="6840084" cy="372237"/>
          </a:xfrm>
          <a:prstGeom prst="rect">
            <a:avLst/>
          </a:prstGeom>
        </p:spPr>
        <p:txBody>
          <a:bodyPr vert="horz" lIns="91440" tIns="45720" rIns="91440" bIns="45720" rtlCol="0" anchor="ctr">
            <a:noAutofit/>
          </a:bodyPr>
          <a:lstStyle/>
          <a:p>
            <a:pPr marL="342900" indent="-342900">
              <a:buFont typeface="Arial" panose="020B0604020202020204" pitchFamily="34" charset="0"/>
              <a:buChar char="•"/>
            </a:pPr>
            <a:r>
              <a:rPr lang="pt-BR" sz="2200" b="1" dirty="0"/>
              <a:t>Textos em inglês</a:t>
            </a:r>
          </a:p>
          <a:p>
            <a:pPr marL="342900" indent="-342900">
              <a:buFont typeface="Arial" panose="020B0604020202020204" pitchFamily="34" charset="0"/>
              <a:buChar char="•"/>
            </a:pPr>
            <a:r>
              <a:rPr lang="pt-BR" sz="2200" b="1" dirty="0"/>
              <a:t>Fonte: Internet</a:t>
            </a:r>
          </a:p>
        </p:txBody>
      </p:sp>
    </p:spTree>
    <p:extLst>
      <p:ext uri="{BB962C8B-B14F-4D97-AF65-F5344CB8AC3E}">
        <p14:creationId xmlns:p14="http://schemas.microsoft.com/office/powerpoint/2010/main" val="35129644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6AFB84C-35D9-59E9-3D8D-98D778D5B120}"/>
            </a:ext>
          </a:extLst>
        </p:cNvPr>
        <p:cNvGrpSpPr/>
        <p:nvPr/>
      </p:nvGrpSpPr>
      <p:grpSpPr>
        <a:xfrm>
          <a:off x="0" y="0"/>
          <a:ext cx="0" cy="0"/>
          <a:chOff x="0" y="0"/>
          <a:chExt cx="0" cy="0"/>
        </a:xfrm>
      </p:grpSpPr>
      <p:sp>
        <p:nvSpPr>
          <p:cNvPr id="4" name="Google Shape;98;p1">
            <a:extLst>
              <a:ext uri="{FF2B5EF4-FFF2-40B4-BE49-F238E27FC236}">
                <a16:creationId xmlns:a16="http://schemas.microsoft.com/office/drawing/2014/main" id="{5EA74DF6-ABAB-2AB5-39AB-B31D233BFAA6}"/>
              </a:ext>
            </a:extLst>
          </p:cNvPr>
          <p:cNvSpPr txBox="1">
            <a:spLocks/>
          </p:cNvSpPr>
          <p:nvPr/>
        </p:nvSpPr>
        <p:spPr>
          <a:xfrm>
            <a:off x="1371599" y="294538"/>
            <a:ext cx="9895951" cy="1033669"/>
          </a:xfrm>
          <a:prstGeom prst="rect">
            <a:avLst/>
          </a:prstGeom>
        </p:spPr>
        <p:txBody>
          <a:bodyPr spcFirstLastPara="1"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baseline="0">
                <a:solidFill>
                  <a:schemeClr val="tx1"/>
                </a:solidFill>
                <a:latin typeface="Open Sans Light" panose="020B03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baseline="0">
                <a:solidFill>
                  <a:schemeClr val="tx1"/>
                </a:solidFill>
                <a:latin typeface="Open Sans Light" panose="020B03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baseline="0">
                <a:solidFill>
                  <a:schemeClr val="tx1"/>
                </a:solidFill>
                <a:latin typeface="Open Sans Light" panose="020B03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baseline="0">
                <a:solidFill>
                  <a:schemeClr val="tx1"/>
                </a:solidFill>
                <a:latin typeface="Open Sans Light" panose="020B03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baseline="0">
                <a:solidFill>
                  <a:schemeClr val="tx1"/>
                </a:solidFill>
                <a:latin typeface="Open Sans Light" panose="020B03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ts val="600"/>
              </a:spcAft>
              <a:buClr>
                <a:srgbClr val="5E5E5E"/>
              </a:buClr>
              <a:buSzPts val="3200"/>
              <a:buNone/>
            </a:pPr>
            <a:r>
              <a:rPr lang="en-US" sz="4000" b="1" kern="1200" dirty="0" err="1">
                <a:solidFill>
                  <a:srgbClr val="FFFFFF"/>
                </a:solidFill>
                <a:latin typeface="+mj-lt"/>
                <a:ea typeface="+mj-ea"/>
                <a:cs typeface="+mj-cs"/>
              </a:rPr>
              <a:t>Problematização</a:t>
            </a:r>
            <a:endParaRPr lang="en-US" sz="4000" b="1" kern="1200" dirty="0">
              <a:solidFill>
                <a:srgbClr val="FFFFFF"/>
              </a:solidFill>
              <a:effectLst/>
              <a:latin typeface="+mj-lt"/>
              <a:ea typeface="+mj-ea"/>
              <a:cs typeface="+mj-cs"/>
            </a:endParaRPr>
          </a:p>
        </p:txBody>
      </p:sp>
      <p:sp>
        <p:nvSpPr>
          <p:cNvPr id="6" name="CaixaDeTexto 5">
            <a:extLst>
              <a:ext uri="{FF2B5EF4-FFF2-40B4-BE49-F238E27FC236}">
                <a16:creationId xmlns:a16="http://schemas.microsoft.com/office/drawing/2014/main" id="{EF384EF6-8197-CD17-16D1-6D029399FB2F}"/>
              </a:ext>
            </a:extLst>
          </p:cNvPr>
          <p:cNvSpPr txBox="1"/>
          <p:nvPr/>
        </p:nvSpPr>
        <p:spPr>
          <a:xfrm>
            <a:off x="1078060" y="2074889"/>
            <a:ext cx="10367705" cy="4641221"/>
          </a:xfrm>
          <a:prstGeom prst="rect">
            <a:avLst/>
          </a:prstGeom>
        </p:spPr>
        <p:txBody>
          <a:bodyPr vert="horz" lIns="91440" tIns="45720" rIns="91440" bIns="45720" rtlCol="0" anchor="ctr">
            <a:normAutofit fontScale="92500" lnSpcReduction="10000"/>
          </a:bodyPr>
          <a:lstStyle/>
          <a:p>
            <a:pPr marL="114300" defTabSz="914400">
              <a:lnSpc>
                <a:spcPct val="90000"/>
              </a:lnSpc>
              <a:spcAft>
                <a:spcPts val="600"/>
              </a:spcAft>
            </a:pPr>
            <a:endParaRPr lang="pt-BR" sz="2000" dirty="0"/>
          </a:p>
          <a:p>
            <a:pPr marL="342900" indent="-228600" defTabSz="914400">
              <a:lnSpc>
                <a:spcPct val="90000"/>
              </a:lnSpc>
              <a:spcAft>
                <a:spcPts val="600"/>
              </a:spcAft>
              <a:buFont typeface="Arial" panose="020B0604020202020204" pitchFamily="34" charset="0"/>
              <a:buChar char="•"/>
            </a:pPr>
            <a:endParaRPr lang="pt-BR" sz="2000" dirty="0"/>
          </a:p>
          <a:p>
            <a:pPr marL="342900" indent="-228600" defTabSz="914400">
              <a:lnSpc>
                <a:spcPct val="90000"/>
              </a:lnSpc>
              <a:spcAft>
                <a:spcPts val="600"/>
              </a:spcAft>
              <a:buFont typeface="Arial" panose="020B0604020202020204" pitchFamily="34" charset="0"/>
              <a:buChar char="•"/>
            </a:pPr>
            <a:r>
              <a:rPr lang="pt-BR" sz="2000" dirty="0"/>
              <a:t>São a síntese de uma realidade os discursos refletem as ideologias que </a:t>
            </a:r>
            <a:r>
              <a:rPr lang="pt-BR" sz="2000" dirty="0" err="1"/>
              <a:t>permeam</a:t>
            </a:r>
            <a:r>
              <a:rPr lang="pt-BR" sz="2000" dirty="0"/>
              <a:t> essa ideologias, os diferentes grupos ao meu ver falta estudo que identifique os principais discursos desses grupos a luz do surgimento dos </a:t>
            </a:r>
            <a:r>
              <a:rPr lang="pt-BR" sz="2000" dirty="0" err="1"/>
              <a:t>mmodelos</a:t>
            </a:r>
            <a:r>
              <a:rPr lang="pt-BR" sz="2000" dirty="0"/>
              <a:t> de </a:t>
            </a:r>
            <a:r>
              <a:rPr lang="pt-BR" sz="2000" dirty="0" err="1"/>
              <a:t>llm</a:t>
            </a:r>
            <a:r>
              <a:rPr lang="pt-BR" sz="2000" dirty="0"/>
              <a:t> quero verificar em que medida se aproximam de um ou de outra ideologia existe, existem os grupos, está na frente a realidade do planeta, tem tudo posto, a emergência dos </a:t>
            </a:r>
            <a:r>
              <a:rPr lang="pt-BR" sz="2000" dirty="0" err="1"/>
              <a:t>mmodeos</a:t>
            </a:r>
            <a:r>
              <a:rPr lang="pt-BR" sz="2000" dirty="0"/>
              <a:t>, vejo como lacuna em que medida os discursos sobre esse tema emergem das </a:t>
            </a:r>
            <a:r>
              <a:rPr lang="pt-BR" sz="2000" dirty="0" err="1"/>
              <a:t>llms</a:t>
            </a:r>
            <a:r>
              <a:rPr lang="pt-BR" sz="2000" dirty="0"/>
              <a:t> </a:t>
            </a:r>
            <a:r>
              <a:rPr lang="pt-BR" sz="2000" dirty="0" err="1"/>
              <a:t>ocmo</a:t>
            </a:r>
            <a:r>
              <a:rPr lang="pt-BR" sz="2000" dirty="0"/>
              <a:t> refletem da realidade ou vieses ideológicos nos outputs dos modelos. Mas só se aborda a linguagem dentro do </a:t>
            </a:r>
            <a:r>
              <a:rPr lang="pt-BR" sz="2000" dirty="0" err="1"/>
              <a:t>refistro</a:t>
            </a:r>
            <a:r>
              <a:rPr lang="pt-BR" sz="2000" dirty="0"/>
              <a:t> a linguagem não existe fora d registro. Como não tem linguagem solada no registro e vou </a:t>
            </a:r>
            <a:r>
              <a:rPr lang="pt-BR" sz="2000" dirty="0" err="1"/>
              <a:t>estrutirar</a:t>
            </a:r>
            <a:r>
              <a:rPr lang="pt-BR" sz="2000" dirty="0"/>
              <a:t> corpus em registros </a:t>
            </a:r>
            <a:r>
              <a:rPr lang="pt-BR" sz="2000" dirty="0" err="1"/>
              <a:t>hiuamonos</a:t>
            </a:r>
            <a:r>
              <a:rPr lang="pt-BR" sz="2000" dirty="0"/>
              <a:t> e dos produzidos pelas </a:t>
            </a:r>
            <a:r>
              <a:rPr lang="pt-BR" sz="2000" dirty="0" err="1"/>
              <a:t>LLMs</a:t>
            </a:r>
            <a:r>
              <a:rPr lang="pt-BR" sz="2000" dirty="0"/>
              <a:t>. Investigar tais registros </a:t>
            </a:r>
          </a:p>
          <a:p>
            <a:pPr marL="342900" indent="-228600" defTabSz="914400">
              <a:lnSpc>
                <a:spcPct val="90000"/>
              </a:lnSpc>
              <a:spcAft>
                <a:spcPts val="600"/>
              </a:spcAft>
              <a:buFont typeface="Arial" panose="020B0604020202020204" pitchFamily="34" charset="0"/>
              <a:buChar char="•"/>
            </a:pPr>
            <a:r>
              <a:rPr lang="pt-BR" sz="2000" dirty="0"/>
              <a:t>Representam o mundo, a sociedade e tomadores de decisão</a:t>
            </a:r>
          </a:p>
          <a:p>
            <a:pPr marL="342900" indent="-228600" defTabSz="914400">
              <a:lnSpc>
                <a:spcPct val="90000"/>
              </a:lnSpc>
              <a:spcAft>
                <a:spcPts val="600"/>
              </a:spcAft>
              <a:buFont typeface="Arial" panose="020B0604020202020204" pitchFamily="34" charset="0"/>
              <a:buChar char="•"/>
            </a:pPr>
            <a:endParaRPr lang="pt-BR" sz="2000" dirty="0"/>
          </a:p>
          <a:p>
            <a:pPr marL="342900" indent="-228600" defTabSz="914400">
              <a:lnSpc>
                <a:spcPct val="90000"/>
              </a:lnSpc>
              <a:spcAft>
                <a:spcPts val="600"/>
              </a:spcAft>
              <a:buFont typeface="Arial" panose="020B0604020202020204" pitchFamily="34" charset="0"/>
              <a:buChar char="•"/>
            </a:pPr>
            <a:r>
              <a:rPr lang="pt-BR" sz="2000" dirty="0"/>
              <a:t> Pesquisa pretende, sob a perspectiva da Linguística de Corpus, mais especificamente da Análise Multidimensional Lexical, entendendo a importância dos outputs discursivos produzidos pelas </a:t>
            </a:r>
            <a:r>
              <a:rPr lang="pt-BR" sz="2000" dirty="0" err="1"/>
              <a:t>LLMs</a:t>
            </a:r>
            <a:r>
              <a:rPr lang="pt-BR" sz="2000" dirty="0"/>
              <a:t> e sua ampla disseminação  e naturalização, lançar um olhar crítico sob quais discursos são produzidos pelas </a:t>
            </a:r>
            <a:r>
              <a:rPr lang="pt-BR" sz="2000" dirty="0" err="1"/>
              <a:t>LLMs</a:t>
            </a:r>
            <a:r>
              <a:rPr lang="pt-BR" sz="2000" dirty="0"/>
              <a:t> generativas (ChatGPT)</a:t>
            </a:r>
          </a:p>
          <a:p>
            <a:pPr marL="342900" indent="-228600" defTabSz="914400">
              <a:lnSpc>
                <a:spcPct val="90000"/>
              </a:lnSpc>
              <a:spcAft>
                <a:spcPts val="600"/>
              </a:spcAft>
              <a:buFont typeface="Arial" panose="020B0604020202020204" pitchFamily="34" charset="0"/>
              <a:buChar char="•"/>
            </a:pPr>
            <a:endParaRPr lang="pt-BR" sz="2000" dirty="0"/>
          </a:p>
        </p:txBody>
      </p:sp>
    </p:spTree>
    <p:extLst>
      <p:ext uri="{BB962C8B-B14F-4D97-AF65-F5344CB8AC3E}">
        <p14:creationId xmlns:p14="http://schemas.microsoft.com/office/powerpoint/2010/main" val="17301765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5C2AF0E-ADE6-8665-8569-2023717555EA}"/>
            </a:ext>
          </a:extLst>
        </p:cNvPr>
        <p:cNvGrpSpPr/>
        <p:nvPr/>
      </p:nvGrpSpPr>
      <p:grpSpPr>
        <a:xfrm>
          <a:off x="0" y="0"/>
          <a:ext cx="0" cy="0"/>
          <a:chOff x="0" y="0"/>
          <a:chExt cx="0" cy="0"/>
        </a:xfrm>
      </p:grpSpPr>
      <p:sp>
        <p:nvSpPr>
          <p:cNvPr id="4" name="Google Shape;98;p1">
            <a:extLst>
              <a:ext uri="{FF2B5EF4-FFF2-40B4-BE49-F238E27FC236}">
                <a16:creationId xmlns:a16="http://schemas.microsoft.com/office/drawing/2014/main" id="{863A577E-0F9D-B3F0-9F6A-25D33E1F27BE}"/>
              </a:ext>
            </a:extLst>
          </p:cNvPr>
          <p:cNvSpPr txBox="1">
            <a:spLocks/>
          </p:cNvSpPr>
          <p:nvPr/>
        </p:nvSpPr>
        <p:spPr>
          <a:xfrm>
            <a:off x="1371599" y="294538"/>
            <a:ext cx="9895951" cy="1033669"/>
          </a:xfrm>
          <a:prstGeom prst="rect">
            <a:avLst/>
          </a:prstGeom>
        </p:spPr>
        <p:txBody>
          <a:bodyPr spcFirstLastPara="1"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baseline="0">
                <a:solidFill>
                  <a:schemeClr val="tx1"/>
                </a:solidFill>
                <a:latin typeface="Open Sans Light" panose="020B03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baseline="0">
                <a:solidFill>
                  <a:schemeClr val="tx1"/>
                </a:solidFill>
                <a:latin typeface="Open Sans Light" panose="020B03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baseline="0">
                <a:solidFill>
                  <a:schemeClr val="tx1"/>
                </a:solidFill>
                <a:latin typeface="Open Sans Light" panose="020B03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baseline="0">
                <a:solidFill>
                  <a:schemeClr val="tx1"/>
                </a:solidFill>
                <a:latin typeface="Open Sans Light" panose="020B03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baseline="0">
                <a:solidFill>
                  <a:schemeClr val="tx1"/>
                </a:solidFill>
                <a:latin typeface="Open Sans Light" panose="020B03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ts val="600"/>
              </a:spcAft>
              <a:buClr>
                <a:srgbClr val="5E5E5E"/>
              </a:buClr>
              <a:buSzPts val="3200"/>
              <a:buNone/>
            </a:pPr>
            <a:r>
              <a:rPr lang="en-US" sz="4000" b="1" kern="1200" dirty="0" err="1">
                <a:solidFill>
                  <a:srgbClr val="FFFFFF"/>
                </a:solidFill>
                <a:latin typeface="+mj-lt"/>
                <a:ea typeface="+mj-ea"/>
                <a:cs typeface="+mj-cs"/>
              </a:rPr>
              <a:t>Problematização</a:t>
            </a:r>
            <a:endParaRPr lang="en-US" sz="4000" b="1" kern="1200" dirty="0">
              <a:solidFill>
                <a:srgbClr val="FFFFFF"/>
              </a:solidFill>
              <a:effectLst/>
              <a:latin typeface="+mj-lt"/>
              <a:ea typeface="+mj-ea"/>
              <a:cs typeface="+mj-cs"/>
            </a:endParaRPr>
          </a:p>
        </p:txBody>
      </p:sp>
      <p:sp>
        <p:nvSpPr>
          <p:cNvPr id="6" name="CaixaDeTexto 5">
            <a:extLst>
              <a:ext uri="{FF2B5EF4-FFF2-40B4-BE49-F238E27FC236}">
                <a16:creationId xmlns:a16="http://schemas.microsoft.com/office/drawing/2014/main" id="{6794595B-4ED1-C426-CF72-4D0B8C5DAAA3}"/>
              </a:ext>
            </a:extLst>
          </p:cNvPr>
          <p:cNvSpPr txBox="1"/>
          <p:nvPr/>
        </p:nvSpPr>
        <p:spPr>
          <a:xfrm>
            <a:off x="1078060" y="2074889"/>
            <a:ext cx="10367705" cy="4641221"/>
          </a:xfrm>
          <a:prstGeom prst="rect">
            <a:avLst/>
          </a:prstGeom>
        </p:spPr>
        <p:txBody>
          <a:bodyPr vert="horz" lIns="91440" tIns="45720" rIns="91440" bIns="45720" rtlCol="0" anchor="ctr">
            <a:normAutofit/>
          </a:bodyPr>
          <a:lstStyle/>
          <a:p>
            <a:pPr marL="114300" defTabSz="914400">
              <a:lnSpc>
                <a:spcPct val="90000"/>
              </a:lnSpc>
              <a:spcAft>
                <a:spcPts val="600"/>
              </a:spcAft>
            </a:pPr>
            <a:endParaRPr lang="pt-BR" sz="2000" dirty="0"/>
          </a:p>
          <a:p>
            <a:pPr marL="342900" indent="-228600" defTabSz="914400">
              <a:lnSpc>
                <a:spcPct val="90000"/>
              </a:lnSpc>
              <a:spcAft>
                <a:spcPts val="600"/>
              </a:spcAft>
              <a:buFont typeface="Arial" panose="020B0604020202020204" pitchFamily="34" charset="0"/>
              <a:buChar char="•"/>
            </a:pPr>
            <a:r>
              <a:rPr lang="pt-BR" sz="2000" dirty="0"/>
              <a:t>As dimensões discursivas são os meios pelos quais acessaremos a forma como a máquina 'pensa' sobre o tema em questão. Essa investigação se justifica pela inevitável naturalização do pensamento da máquina, incluindo os discursos sobre a crise climática, e pela relevância das questões ambientais no atual contexto, em que a própria existência humana está ameaçada</a:t>
            </a:r>
          </a:p>
          <a:p>
            <a:pPr marL="342900" indent="-228600" defTabSz="914400">
              <a:lnSpc>
                <a:spcPct val="90000"/>
              </a:lnSpc>
              <a:spcAft>
                <a:spcPts val="600"/>
              </a:spcAft>
              <a:buFont typeface="Arial" panose="020B0604020202020204" pitchFamily="34" charset="0"/>
              <a:buChar char="•"/>
            </a:pPr>
            <a:endParaRPr lang="pt-BR" sz="2000" dirty="0"/>
          </a:p>
        </p:txBody>
      </p:sp>
    </p:spTree>
    <p:extLst>
      <p:ext uri="{BB962C8B-B14F-4D97-AF65-F5344CB8AC3E}">
        <p14:creationId xmlns:p14="http://schemas.microsoft.com/office/powerpoint/2010/main" val="40207772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FF49DD9B-848F-6FFF-360F-66A96791ABFF}"/>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E8FAC55-0AAD-C588-C361-9A2624B46A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31A7383-ECF6-4423-86B7-EA5ECF3E5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565C706-1DE8-E9A9-D5A5-50B9875970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9FA89E0-2009-0459-DD4A-119F473187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617A220-10E8-F953-6C8C-86CF63E4C9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Google Shape;98;p1">
            <a:extLst>
              <a:ext uri="{FF2B5EF4-FFF2-40B4-BE49-F238E27FC236}">
                <a16:creationId xmlns:a16="http://schemas.microsoft.com/office/drawing/2014/main" id="{A595DFF1-BAD5-88A3-B3AE-A78BA7FF5AA5}"/>
              </a:ext>
            </a:extLst>
          </p:cNvPr>
          <p:cNvSpPr txBox="1">
            <a:spLocks/>
          </p:cNvSpPr>
          <p:nvPr/>
        </p:nvSpPr>
        <p:spPr>
          <a:xfrm>
            <a:off x="1371599" y="294538"/>
            <a:ext cx="9895951" cy="1033669"/>
          </a:xfrm>
          <a:prstGeom prst="rect">
            <a:avLst/>
          </a:prstGeom>
        </p:spPr>
        <p:txBody>
          <a:bodyPr spcFirstLastPara="1"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baseline="0">
                <a:solidFill>
                  <a:schemeClr val="tx1"/>
                </a:solidFill>
                <a:latin typeface="Open Sans Light" panose="020B03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baseline="0">
                <a:solidFill>
                  <a:schemeClr val="tx1"/>
                </a:solidFill>
                <a:latin typeface="Open Sans Light" panose="020B03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baseline="0">
                <a:solidFill>
                  <a:schemeClr val="tx1"/>
                </a:solidFill>
                <a:latin typeface="Open Sans Light" panose="020B03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baseline="0">
                <a:solidFill>
                  <a:schemeClr val="tx1"/>
                </a:solidFill>
                <a:latin typeface="Open Sans Light" panose="020B03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baseline="0">
                <a:solidFill>
                  <a:schemeClr val="tx1"/>
                </a:solidFill>
                <a:latin typeface="Open Sans Light" panose="020B03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ts val="600"/>
              </a:spcAft>
              <a:buClr>
                <a:srgbClr val="5E5E5E"/>
              </a:buClr>
              <a:buSzPts val="3200"/>
              <a:buNone/>
            </a:pPr>
            <a:r>
              <a:rPr lang="en-US" sz="4000" b="1" kern="1200" dirty="0">
                <a:solidFill>
                  <a:srgbClr val="FFFFFF"/>
                </a:solidFill>
                <a:latin typeface="+mj-lt"/>
                <a:ea typeface="+mj-ea"/>
                <a:cs typeface="+mj-cs"/>
              </a:rPr>
              <a:t>Lacuna</a:t>
            </a:r>
            <a:endParaRPr lang="en-US" sz="4000" b="1" kern="1200" dirty="0">
              <a:solidFill>
                <a:srgbClr val="FFFFFF"/>
              </a:solidFill>
              <a:effectLst/>
              <a:latin typeface="+mj-lt"/>
              <a:ea typeface="+mj-ea"/>
              <a:cs typeface="+mj-cs"/>
            </a:endParaRPr>
          </a:p>
        </p:txBody>
      </p:sp>
      <p:sp>
        <p:nvSpPr>
          <p:cNvPr id="3" name="CaixaDeTexto 2">
            <a:extLst>
              <a:ext uri="{FF2B5EF4-FFF2-40B4-BE49-F238E27FC236}">
                <a16:creationId xmlns:a16="http://schemas.microsoft.com/office/drawing/2014/main" id="{FF3737B2-320B-93FC-8649-F5481CF63E5D}"/>
              </a:ext>
            </a:extLst>
          </p:cNvPr>
          <p:cNvSpPr txBox="1"/>
          <p:nvPr/>
        </p:nvSpPr>
        <p:spPr>
          <a:xfrm>
            <a:off x="837722" y="1891970"/>
            <a:ext cx="10229671" cy="4272347"/>
          </a:xfrm>
          <a:prstGeom prst="rect">
            <a:avLst/>
          </a:prstGeom>
        </p:spPr>
        <p:txBody>
          <a:bodyPr vert="horz" lIns="91440" tIns="45720" rIns="91440" bIns="45720" rtlCol="0" anchor="ctr">
            <a:normAutofit/>
          </a:bodyPr>
          <a:lstStyle/>
          <a:p>
            <a:pPr marL="342900" indent="-342900">
              <a:buFont typeface="Arial" panose="020B0604020202020204" pitchFamily="34" charset="0"/>
              <a:buChar char="•"/>
            </a:pPr>
            <a:r>
              <a:rPr lang="pt-BR" sz="2000" dirty="0"/>
              <a:t>Há uma vasta literatura sobre discursos relacionados à mudança climática, mas ainda são poucos os estudos que investigam como as inteligências artificiais generativas (</a:t>
            </a:r>
            <a:r>
              <a:rPr lang="pt-BR" sz="2000" dirty="0" err="1"/>
              <a:t>LLMs</a:t>
            </a:r>
            <a:r>
              <a:rPr lang="pt-BR" sz="2000" dirty="0"/>
              <a:t>) produzem e reproduzem discursos sobre o tema. Mais especificamente, carecem análises comparativas que verifiquem como os enunciados produzidos por </a:t>
            </a:r>
            <a:r>
              <a:rPr lang="pt-BR" sz="2000" dirty="0" err="1"/>
              <a:t>LLMs</a:t>
            </a:r>
            <a:r>
              <a:rPr lang="pt-BR" sz="2000" dirty="0"/>
              <a:t> a partir de termos centrais (</a:t>
            </a:r>
            <a:r>
              <a:rPr lang="pt-BR" sz="2000" i="1" dirty="0" err="1"/>
              <a:t>climate</a:t>
            </a:r>
            <a:r>
              <a:rPr lang="pt-BR" sz="2000" i="1" dirty="0"/>
              <a:t> </a:t>
            </a:r>
            <a:r>
              <a:rPr lang="pt-BR" sz="2000" i="1" dirty="0" err="1"/>
              <a:t>change</a:t>
            </a:r>
            <a:r>
              <a:rPr lang="pt-BR" sz="2000" i="1" dirty="0"/>
              <a:t>, </a:t>
            </a:r>
            <a:r>
              <a:rPr lang="pt-BR" sz="2000" i="1" dirty="0" err="1"/>
              <a:t>climate</a:t>
            </a:r>
            <a:r>
              <a:rPr lang="pt-BR" sz="2000" i="1" dirty="0"/>
              <a:t> </a:t>
            </a:r>
            <a:r>
              <a:rPr lang="pt-BR" sz="2000" i="1" dirty="0" err="1"/>
              <a:t>emergency</a:t>
            </a:r>
            <a:r>
              <a:rPr lang="pt-BR" sz="2000" i="1" dirty="0"/>
              <a:t>, global </a:t>
            </a:r>
            <a:r>
              <a:rPr lang="pt-BR" sz="2000" i="1" dirty="0" err="1"/>
              <a:t>warming</a:t>
            </a:r>
            <a:r>
              <a:rPr lang="pt-BR" sz="2000" i="1" dirty="0"/>
              <a:t>, </a:t>
            </a:r>
            <a:r>
              <a:rPr lang="pt-BR" sz="2000" i="1" dirty="0" err="1"/>
              <a:t>climate</a:t>
            </a:r>
            <a:r>
              <a:rPr lang="pt-BR" sz="2000" i="1" dirty="0"/>
              <a:t> crises</a:t>
            </a:r>
            <a:r>
              <a:rPr lang="pt-BR" sz="2000" dirty="0"/>
              <a:t>) se aproximam ou se distanciam dos discursos humanos, provenientes de diferentes atores sociais como governos, organizações não governamentais, sociedade civil e imprensa.</a:t>
            </a:r>
          </a:p>
          <a:p>
            <a:pPr marL="342900" indent="-342900">
              <a:buFont typeface="Arial" panose="020B0604020202020204" pitchFamily="34" charset="0"/>
              <a:buChar char="•"/>
            </a:pPr>
            <a:endParaRPr lang="pt-BR" sz="2000" dirty="0"/>
          </a:p>
          <a:p>
            <a:pPr marL="342900" indent="-342900">
              <a:buFont typeface="Arial" panose="020B0604020202020204" pitchFamily="34" charset="0"/>
              <a:buChar char="•"/>
            </a:pPr>
            <a:r>
              <a:rPr lang="pt-BR" sz="2000" dirty="0"/>
              <a:t>A pesquisa propõe uma abordagem metodológica de corpora robustos. Serão analisados milhares de textos, em contraste as demais pesquisas que geralmente são baseadas em amostras limitadas, permitindo assim a identificação de padrões discursivos estatisticamente amparados.</a:t>
            </a:r>
          </a:p>
        </p:txBody>
      </p:sp>
    </p:spTree>
    <p:extLst>
      <p:ext uri="{BB962C8B-B14F-4D97-AF65-F5344CB8AC3E}">
        <p14:creationId xmlns:p14="http://schemas.microsoft.com/office/powerpoint/2010/main" val="28119795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6127E096-FD09-B238-1E64-E78EEB44CFC8}"/>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9335017-EC6B-D98C-38EF-D002C86336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8D4A245-0BA8-BAC9-ADD7-B6C524D64F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3B9D648-468F-4838-E227-553A99B8A5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314D46D-D87E-4B3D-8DBA-587708B32A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FDD8F87-E69B-B3B3-9697-F2F29554E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Google Shape;98;p1">
            <a:extLst>
              <a:ext uri="{FF2B5EF4-FFF2-40B4-BE49-F238E27FC236}">
                <a16:creationId xmlns:a16="http://schemas.microsoft.com/office/drawing/2014/main" id="{0FD11243-9F94-2B03-31DF-7DEA3B802435}"/>
              </a:ext>
            </a:extLst>
          </p:cNvPr>
          <p:cNvSpPr txBox="1">
            <a:spLocks/>
          </p:cNvSpPr>
          <p:nvPr/>
        </p:nvSpPr>
        <p:spPr>
          <a:xfrm>
            <a:off x="1371599" y="294538"/>
            <a:ext cx="9895951" cy="1033669"/>
          </a:xfrm>
          <a:prstGeom prst="rect">
            <a:avLst/>
          </a:prstGeom>
        </p:spPr>
        <p:txBody>
          <a:bodyPr spcFirstLastPara="1"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baseline="0">
                <a:solidFill>
                  <a:schemeClr val="tx1"/>
                </a:solidFill>
                <a:latin typeface="Open Sans Light" panose="020B03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baseline="0">
                <a:solidFill>
                  <a:schemeClr val="tx1"/>
                </a:solidFill>
                <a:latin typeface="Open Sans Light" panose="020B03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baseline="0">
                <a:solidFill>
                  <a:schemeClr val="tx1"/>
                </a:solidFill>
                <a:latin typeface="Open Sans Light" panose="020B03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baseline="0">
                <a:solidFill>
                  <a:schemeClr val="tx1"/>
                </a:solidFill>
                <a:latin typeface="Open Sans Light" panose="020B03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baseline="0">
                <a:solidFill>
                  <a:schemeClr val="tx1"/>
                </a:solidFill>
                <a:latin typeface="Open Sans Light" panose="020B03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ts val="600"/>
              </a:spcAft>
              <a:buClr>
                <a:srgbClr val="5E5E5E"/>
              </a:buClr>
              <a:buSzPts val="3200"/>
              <a:buNone/>
            </a:pPr>
            <a:r>
              <a:rPr lang="en-US" sz="4000" b="1" kern="1200" dirty="0" err="1">
                <a:solidFill>
                  <a:srgbClr val="FFFFFF"/>
                </a:solidFill>
                <a:latin typeface="+mj-lt"/>
                <a:ea typeface="+mj-ea"/>
                <a:cs typeface="+mj-cs"/>
              </a:rPr>
              <a:t>Referências</a:t>
            </a:r>
            <a:endParaRPr lang="en-US" sz="4000" b="1" kern="1200" dirty="0">
              <a:solidFill>
                <a:srgbClr val="FFFFFF"/>
              </a:solidFill>
              <a:effectLst/>
              <a:latin typeface="+mj-lt"/>
              <a:ea typeface="+mj-ea"/>
              <a:cs typeface="+mj-cs"/>
            </a:endParaRPr>
          </a:p>
        </p:txBody>
      </p:sp>
      <p:sp>
        <p:nvSpPr>
          <p:cNvPr id="3" name="CaixaDeTexto 2">
            <a:extLst>
              <a:ext uri="{FF2B5EF4-FFF2-40B4-BE49-F238E27FC236}">
                <a16:creationId xmlns:a16="http://schemas.microsoft.com/office/drawing/2014/main" id="{1E4FCD82-50A9-1A06-F6C7-7E42CD9CEA71}"/>
              </a:ext>
            </a:extLst>
          </p:cNvPr>
          <p:cNvSpPr txBox="1"/>
          <p:nvPr/>
        </p:nvSpPr>
        <p:spPr>
          <a:xfrm>
            <a:off x="837722" y="1891970"/>
            <a:ext cx="10229671" cy="4272347"/>
          </a:xfrm>
          <a:prstGeom prst="rect">
            <a:avLst/>
          </a:prstGeom>
        </p:spPr>
        <p:txBody>
          <a:bodyPr vert="horz" lIns="91440" tIns="45720" rIns="91440" bIns="45720" rtlCol="0" anchor="ctr">
            <a:normAutofit fontScale="92500" lnSpcReduction="10000"/>
          </a:bodyPr>
          <a:lstStyle/>
          <a:p>
            <a:r>
              <a:rPr lang="en-US" sz="2000" dirty="0"/>
              <a:t>Doulton, Hugh, and Katrina Brown. 2009. “Ten Years to Prevent Catastrophe? Discourses of Climate Change and International Development in the UK Press.” Global Environmental Change 19: 191–202. </a:t>
            </a:r>
            <a:r>
              <a:rPr lang="en-US" sz="2000" dirty="0">
                <a:hlinkClick r:id="rId2"/>
              </a:rPr>
              <a:t>https://doi.org/10.1016/j.gloenvcha.2008.10.004</a:t>
            </a:r>
            <a:r>
              <a:rPr lang="en-US" sz="2000" dirty="0"/>
              <a:t>.</a:t>
            </a:r>
          </a:p>
          <a:p>
            <a:endParaRPr lang="en-US" sz="2000" dirty="0"/>
          </a:p>
          <a:p>
            <a:r>
              <a:rPr lang="en-US" sz="2000" dirty="0" err="1"/>
              <a:t>Flusberg</a:t>
            </a:r>
            <a:r>
              <a:rPr lang="en-US" sz="2000" dirty="0"/>
              <a:t>, Stephen J., Teenie Matlock, and Paul H. Thibodeau. 2017. “Metaphors for the War (or Race) against Climate Change.” Environmental Communication 11 (6): 769–783. </a:t>
            </a:r>
            <a:r>
              <a:rPr lang="en-US" sz="2000" dirty="0">
                <a:hlinkClick r:id="rId3"/>
              </a:rPr>
              <a:t>https://doi.org/10.1080/17524032.2017.1289111</a:t>
            </a:r>
            <a:r>
              <a:rPr lang="en-US" sz="2000" dirty="0"/>
              <a:t>.</a:t>
            </a:r>
          </a:p>
          <a:p>
            <a:endParaRPr lang="en-US" sz="2000" dirty="0"/>
          </a:p>
          <a:p>
            <a:r>
              <a:rPr lang="pt-BR" sz="2000" dirty="0"/>
              <a:t>Vu, Hong Tien, Matthew </a:t>
            </a:r>
            <a:r>
              <a:rPr lang="pt-BR" sz="2000" dirty="0" err="1"/>
              <a:t>Blomberg</a:t>
            </a:r>
            <a:r>
              <a:rPr lang="pt-BR" sz="2000" dirty="0"/>
              <a:t>, </a:t>
            </a:r>
            <a:r>
              <a:rPr lang="pt-BR" sz="2000" dirty="0" err="1"/>
              <a:t>Hyunjin</a:t>
            </a:r>
            <a:r>
              <a:rPr lang="pt-BR" sz="2000" dirty="0"/>
              <a:t> </a:t>
            </a:r>
            <a:r>
              <a:rPr lang="pt-BR" sz="2000" dirty="0" err="1"/>
              <a:t>Seo</a:t>
            </a:r>
            <a:r>
              <a:rPr lang="pt-BR" sz="2000" dirty="0"/>
              <a:t>, </a:t>
            </a:r>
            <a:r>
              <a:rPr lang="pt-BR" sz="2000" dirty="0" err="1"/>
              <a:t>Yuchen</a:t>
            </a:r>
            <a:r>
              <a:rPr lang="pt-BR" sz="2000" dirty="0"/>
              <a:t> Liu, </a:t>
            </a:r>
            <a:r>
              <a:rPr lang="pt-BR" sz="2000" dirty="0" err="1"/>
              <a:t>Fatemeh</a:t>
            </a:r>
            <a:r>
              <a:rPr lang="pt-BR" sz="2000" dirty="0"/>
              <a:t> </a:t>
            </a:r>
            <a:r>
              <a:rPr lang="pt-BR" sz="2000" dirty="0" err="1"/>
              <a:t>Shayesteh</a:t>
            </a:r>
            <a:r>
              <a:rPr lang="pt-BR" sz="2000" dirty="0"/>
              <a:t>, </a:t>
            </a:r>
            <a:r>
              <a:rPr lang="pt-BR" sz="2000" dirty="0" err="1"/>
              <a:t>and</a:t>
            </a:r>
            <a:r>
              <a:rPr lang="pt-BR" sz="2000" dirty="0"/>
              <a:t> Hung </a:t>
            </a:r>
            <a:r>
              <a:rPr lang="pt-BR" sz="2000" dirty="0" err="1"/>
              <a:t>Viet</a:t>
            </a:r>
            <a:r>
              <a:rPr lang="pt-BR" sz="2000" dirty="0"/>
              <a:t> Do. 2020. “Social Media </a:t>
            </a:r>
            <a:r>
              <a:rPr lang="pt-BR" sz="2000" dirty="0" err="1"/>
              <a:t>and</a:t>
            </a:r>
            <a:r>
              <a:rPr lang="pt-BR" sz="2000" dirty="0"/>
              <a:t> Environmental </a:t>
            </a:r>
            <a:r>
              <a:rPr lang="pt-BR" sz="2000" dirty="0" err="1"/>
              <a:t>Activism</a:t>
            </a:r>
            <a:r>
              <a:rPr lang="pt-BR" sz="2000" dirty="0"/>
              <a:t>: </a:t>
            </a:r>
            <a:r>
              <a:rPr lang="pt-BR" sz="2000" dirty="0" err="1"/>
              <a:t>Framing</a:t>
            </a:r>
            <a:r>
              <a:rPr lang="pt-BR" sz="2000" dirty="0"/>
              <a:t> </a:t>
            </a:r>
            <a:r>
              <a:rPr lang="pt-BR" sz="2000" dirty="0" err="1"/>
              <a:t>Climate</a:t>
            </a:r>
            <a:r>
              <a:rPr lang="pt-BR" sz="2000" dirty="0"/>
              <a:t> </a:t>
            </a:r>
            <a:r>
              <a:rPr lang="pt-BR" sz="2000" dirty="0" err="1"/>
              <a:t>Change</a:t>
            </a:r>
            <a:r>
              <a:rPr lang="pt-BR" sz="2000" dirty="0"/>
              <a:t> </a:t>
            </a:r>
            <a:r>
              <a:rPr lang="pt-BR" sz="2000" dirty="0" err="1"/>
              <a:t>on</a:t>
            </a:r>
            <a:r>
              <a:rPr lang="pt-BR" sz="2000" dirty="0"/>
              <a:t> Facebook </a:t>
            </a:r>
            <a:r>
              <a:rPr lang="pt-BR" sz="2000" dirty="0" err="1"/>
              <a:t>by</a:t>
            </a:r>
            <a:r>
              <a:rPr lang="pt-BR" sz="2000" dirty="0"/>
              <a:t> Global </a:t>
            </a:r>
            <a:r>
              <a:rPr lang="pt-BR" sz="2000" dirty="0" err="1"/>
              <a:t>NGOs</a:t>
            </a:r>
            <a:r>
              <a:rPr lang="pt-BR" sz="2000" dirty="0"/>
              <a:t>.” Science Communication 42 (1): 1–25. </a:t>
            </a:r>
            <a:r>
              <a:rPr lang="pt-BR" sz="2000" dirty="0">
                <a:hlinkClick r:id="rId4"/>
              </a:rPr>
              <a:t>https://doi.org/10.1177/1075547020971644</a:t>
            </a:r>
            <a:r>
              <a:rPr lang="pt-BR" sz="2000" dirty="0"/>
              <a:t>.</a:t>
            </a:r>
          </a:p>
          <a:p>
            <a:endParaRPr lang="pt-BR" sz="2000" dirty="0"/>
          </a:p>
          <a:p>
            <a:r>
              <a:rPr lang="pt-BR" sz="2000" dirty="0" err="1"/>
              <a:t>Maipas</a:t>
            </a:r>
            <a:r>
              <a:rPr lang="pt-BR" sz="2000" dirty="0"/>
              <a:t>, </a:t>
            </a:r>
            <a:r>
              <a:rPr lang="pt-BR" sz="2000" dirty="0" err="1"/>
              <a:t>Sotirios</a:t>
            </a:r>
            <a:r>
              <a:rPr lang="pt-BR" sz="2000" dirty="0"/>
              <a:t>, </a:t>
            </a:r>
            <a:r>
              <a:rPr lang="pt-BR" sz="2000" dirty="0" err="1"/>
              <a:t>and</a:t>
            </a:r>
            <a:r>
              <a:rPr lang="pt-BR" sz="2000" dirty="0"/>
              <a:t> </a:t>
            </a:r>
            <a:r>
              <a:rPr lang="pt-BR" sz="2000" dirty="0" err="1"/>
              <a:t>Nikolaos</a:t>
            </a:r>
            <a:r>
              <a:rPr lang="pt-BR" sz="2000" dirty="0"/>
              <a:t> </a:t>
            </a:r>
            <a:r>
              <a:rPr lang="pt-BR" sz="2000" dirty="0" err="1"/>
              <a:t>Kavantzas</a:t>
            </a:r>
            <a:r>
              <a:rPr lang="pt-BR" sz="2000" dirty="0"/>
              <a:t>. 2024. “</a:t>
            </a:r>
            <a:r>
              <a:rPr lang="pt-BR" sz="2000" dirty="0" err="1"/>
              <a:t>Climate</a:t>
            </a:r>
            <a:r>
              <a:rPr lang="pt-BR" sz="2000" dirty="0"/>
              <a:t> </a:t>
            </a:r>
            <a:r>
              <a:rPr lang="pt-BR" sz="2000" dirty="0" err="1"/>
              <a:t>Crisis</a:t>
            </a:r>
            <a:r>
              <a:rPr lang="pt-BR" sz="2000" dirty="0"/>
              <a:t>: A </a:t>
            </a:r>
            <a:r>
              <a:rPr lang="pt-BR" sz="2000" dirty="0" err="1"/>
              <a:t>Term</a:t>
            </a:r>
            <a:r>
              <a:rPr lang="pt-BR" sz="2000" dirty="0"/>
              <a:t> </a:t>
            </a:r>
            <a:r>
              <a:rPr lang="pt-BR" sz="2000" dirty="0" err="1"/>
              <a:t>Used</a:t>
            </a:r>
            <a:r>
              <a:rPr lang="pt-BR" sz="2000" dirty="0"/>
              <a:t> to </a:t>
            </a:r>
            <a:r>
              <a:rPr lang="pt-BR" sz="2000" dirty="0" err="1"/>
              <a:t>Avert</a:t>
            </a:r>
            <a:r>
              <a:rPr lang="pt-BR" sz="2000" dirty="0"/>
              <a:t> na Environmental Health Medieval Era.” Environmental Health Insights 18: 1–. https://doi.org/10.1177/11786302231224582.</a:t>
            </a:r>
          </a:p>
        </p:txBody>
      </p:sp>
    </p:spTree>
    <p:extLst>
      <p:ext uri="{BB962C8B-B14F-4D97-AF65-F5344CB8AC3E}">
        <p14:creationId xmlns:p14="http://schemas.microsoft.com/office/powerpoint/2010/main" val="13763888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FEB1E414-BBF2-C4C2-6B3D-9F751DAD4A68}"/>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18F47CD-9204-1D14-1C21-204D2686AB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BD2307F-98BA-B834-9147-56515226ED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D273A5F-9FD0-034C-3995-C9C8AD51D1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6F4225CA-DB57-4773-1789-6FF5573164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3784884-2A6A-6102-9C66-3FDE4B2339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Google Shape;98;p1">
            <a:extLst>
              <a:ext uri="{FF2B5EF4-FFF2-40B4-BE49-F238E27FC236}">
                <a16:creationId xmlns:a16="http://schemas.microsoft.com/office/drawing/2014/main" id="{D0915EF0-AE40-4FAE-8EF6-B1D410794DCE}"/>
              </a:ext>
            </a:extLst>
          </p:cNvPr>
          <p:cNvSpPr txBox="1">
            <a:spLocks/>
          </p:cNvSpPr>
          <p:nvPr/>
        </p:nvSpPr>
        <p:spPr>
          <a:xfrm>
            <a:off x="1371599" y="294538"/>
            <a:ext cx="9895951" cy="1033669"/>
          </a:xfrm>
          <a:prstGeom prst="rect">
            <a:avLst/>
          </a:prstGeom>
        </p:spPr>
        <p:txBody>
          <a:bodyPr spcFirstLastPara="1"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baseline="0">
                <a:solidFill>
                  <a:schemeClr val="tx1"/>
                </a:solidFill>
                <a:latin typeface="Open Sans Light" panose="020B03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baseline="0">
                <a:solidFill>
                  <a:schemeClr val="tx1"/>
                </a:solidFill>
                <a:latin typeface="Open Sans Light" panose="020B03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baseline="0">
                <a:solidFill>
                  <a:schemeClr val="tx1"/>
                </a:solidFill>
                <a:latin typeface="Open Sans Light" panose="020B03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baseline="0">
                <a:solidFill>
                  <a:schemeClr val="tx1"/>
                </a:solidFill>
                <a:latin typeface="Open Sans Light" panose="020B03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baseline="0">
                <a:solidFill>
                  <a:schemeClr val="tx1"/>
                </a:solidFill>
                <a:latin typeface="Open Sans Light" panose="020B03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ts val="600"/>
              </a:spcAft>
              <a:buClr>
                <a:srgbClr val="5E5E5E"/>
              </a:buClr>
              <a:buSzPts val="3200"/>
              <a:buNone/>
            </a:pPr>
            <a:r>
              <a:rPr lang="en-US" sz="4000" b="1" kern="1200" dirty="0" err="1">
                <a:solidFill>
                  <a:srgbClr val="FFFFFF"/>
                </a:solidFill>
                <a:latin typeface="+mj-lt"/>
                <a:ea typeface="+mj-ea"/>
                <a:cs typeface="+mj-cs"/>
              </a:rPr>
              <a:t>Referências</a:t>
            </a:r>
            <a:endParaRPr lang="en-US" sz="4000" b="1" kern="1200" dirty="0">
              <a:solidFill>
                <a:srgbClr val="FFFFFF"/>
              </a:solidFill>
              <a:effectLst/>
              <a:latin typeface="+mj-lt"/>
              <a:ea typeface="+mj-ea"/>
              <a:cs typeface="+mj-cs"/>
            </a:endParaRPr>
          </a:p>
        </p:txBody>
      </p:sp>
      <p:sp>
        <p:nvSpPr>
          <p:cNvPr id="3" name="CaixaDeTexto 2">
            <a:extLst>
              <a:ext uri="{FF2B5EF4-FFF2-40B4-BE49-F238E27FC236}">
                <a16:creationId xmlns:a16="http://schemas.microsoft.com/office/drawing/2014/main" id="{96D4DA36-8DEB-F885-576B-AF58B37E1312}"/>
              </a:ext>
            </a:extLst>
          </p:cNvPr>
          <p:cNvSpPr txBox="1"/>
          <p:nvPr/>
        </p:nvSpPr>
        <p:spPr>
          <a:xfrm>
            <a:off x="837722" y="1891970"/>
            <a:ext cx="10229671" cy="4272347"/>
          </a:xfrm>
          <a:prstGeom prst="rect">
            <a:avLst/>
          </a:prstGeom>
        </p:spPr>
        <p:txBody>
          <a:bodyPr vert="horz" lIns="91440" tIns="45720" rIns="91440" bIns="45720" rtlCol="0" anchor="ctr">
            <a:normAutofit/>
          </a:bodyPr>
          <a:lstStyle/>
          <a:p>
            <a:r>
              <a:rPr lang="en-US" sz="2000" dirty="0"/>
              <a:t>Stibbe, Arran. 2024. Ecolinguistics: Language, Ecology and the Stories We Live By. 2nd ed. London: Routledge.</a:t>
            </a:r>
          </a:p>
          <a:p>
            <a:endParaRPr lang="en-US" sz="2000" dirty="0"/>
          </a:p>
          <a:p>
            <a:r>
              <a:rPr lang="en-US" sz="2000" dirty="0"/>
              <a:t>Nerlich, Brigitte, Nelya </a:t>
            </a:r>
            <a:r>
              <a:rPr lang="en-US" sz="2000" dirty="0" err="1"/>
              <a:t>Koteyko</a:t>
            </a:r>
            <a:r>
              <a:rPr lang="en-US" sz="2000" dirty="0"/>
              <a:t>, and Brian Brown. 2010. “Theory and Language of Climate Change Communication.” Wiley Interdisciplinary Reviews: Climate Change 1 (1): 97–110. </a:t>
            </a:r>
            <a:r>
              <a:rPr lang="en-US" sz="2000"/>
              <a:t>https://doi.org/10.1002/wcc.5.</a:t>
            </a:r>
            <a:endParaRPr lang="pt-BR" sz="2000" dirty="0"/>
          </a:p>
        </p:txBody>
      </p:sp>
    </p:spTree>
    <p:extLst>
      <p:ext uri="{BB962C8B-B14F-4D97-AF65-F5344CB8AC3E}">
        <p14:creationId xmlns:p14="http://schemas.microsoft.com/office/powerpoint/2010/main" val="6500092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0547068"/>
      </p:ext>
    </p:extLst>
  </p:cSld>
  <p:clrMapOvr>
    <a:masterClrMapping/>
  </p:clrMapOvr>
</p:sld>
</file>

<file path=ppt/theme/theme1.xml><?xml version="1.0" encoding="utf-8"?>
<a:theme xmlns:a="http://schemas.openxmlformats.org/drawingml/2006/main" name="Office Theme">
  <a:themeElements>
    <a:clrScheme name="Tema do Office">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467886"/>
      </a:hlink>
      <a:folHlink>
        <a:srgbClr val="96607D"/>
      </a:folHlink>
    </a:clrScheme>
    <a:fontScheme name="Tema do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ema do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97E0A228-C590-4D20-B05F-A6BF04A05448}"/>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48638</TotalTime>
  <Words>2608</Words>
  <Application>Microsoft Office PowerPoint</Application>
  <PresentationFormat>Widescreen</PresentationFormat>
  <Paragraphs>104</Paragraphs>
  <Slides>20</Slides>
  <Notes>7</Notes>
  <HiddenSlides>5</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20</vt:i4>
      </vt:variant>
    </vt:vector>
  </HeadingPairs>
  <TitlesOfParts>
    <vt:vector size="24" baseType="lpstr">
      <vt:lpstr>Aptos</vt:lpstr>
      <vt:lpstr>Aptos Display</vt:lpstr>
      <vt:lpstr>Arial</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Arianne Brogini</dc:creator>
  <cp:lastModifiedBy>Arianne Brogini</cp:lastModifiedBy>
  <cp:revision>50</cp:revision>
  <dcterms:created xsi:type="dcterms:W3CDTF">2024-10-22T17:14:44Z</dcterms:created>
  <dcterms:modified xsi:type="dcterms:W3CDTF">2025-11-26T21:52:57Z</dcterms:modified>
</cp:coreProperties>
</file>